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s/slide1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References17"/>
  </p:sldIdLst>
  <p:sldSz cx="12193588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Relationship Id="rIdReferences17" Type="http://schemas.openxmlformats.org/officeDocument/2006/relationships/slide" Target="slides/slide17.xml"/>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ct val="11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0D286CB-0967-4E9E-B042-FC5B796B308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496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Diez minutos. No leer la portada. Entrar al contexto en una frase y pasar.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fld id="{95576226-D8A0-4F38-B0F8-C79F5755C25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496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Llama 3.2 eligió lámina sin tarjetas: título y frases. Edad, estado civil, lugar, estabilidad, gusto por programar. La leche no es la pregunta.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fld id="{F5DD8F3E-DBC8-4113-AB8C-BF02E954354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496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Un minuto. Decir los tres títulos y cerrar: las dos maestrías quedan atrás. Si preguntan por blockchain: es el registro de la tesis de 2018, no el objeto de ahora.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fld id="{A4A097A6-CC2C-4F15-A122-73D33677C06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280"/>
            <a:ext cx="5484960" cy="3597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Un minuto. Si piden repositorios: predictor, el extractor y agent-multi son el lugar donde la representación se integraría. No son la tesis.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fld id="{FBDF405A-981C-4E18-BED3-AC4233DDEA5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2520"/>
            <a:ext cx="10968480" cy="114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13000"/>
              </a:lnSpc>
              <a:spcBef>
                <a:spcPts val="26"/>
              </a:spcBef>
              <a:spcAft>
                <a:spcPts val="26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13000"/>
              </a:lnSpc>
              <a:spcBef>
                <a:spcPts val="26"/>
              </a:spcBef>
              <a:spcAft>
                <a:spcPts val="26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880"/>
            <a:ext cx="10968480" cy="397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marL="343080" indent="-343080" algn="l">
              <a:lnSpc>
                <a:spcPct val="113000"/>
              </a:lnSpc>
              <a:spcBef>
                <a:spcPts val="1437"/>
              </a:spcBef>
              <a:spcAft>
                <a:spcPts val="26"/>
              </a:spcAft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13000"/>
              </a:lnSpc>
              <a:spcBef>
                <a:spcPts val="1437"/>
              </a:spcBef>
              <a:spcAft>
                <a:spcPts val="26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13000"/>
              </a:lnSpc>
              <a:spcBef>
                <a:spcPts val="1437"/>
              </a:spcBef>
              <a:spcAft>
                <a:spcPts val="26"/>
              </a:spcAft>
              <a:buClr>
                <a:srgbClr val="000000"/>
              </a:buClr>
              <a:buFont typeface="Times New Roman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13000"/>
              </a:lnSpc>
              <a:spcBef>
                <a:spcPts val="1437"/>
              </a:spcBef>
              <a:spcAft>
                <a:spcPts val="26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13000"/>
              </a:lnSpc>
              <a:spcBef>
                <a:spcPts val="1437"/>
              </a:spcBef>
              <a:spcAft>
                <a:spcPts val="26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13000"/>
              </a:lnSpc>
              <a:spcBef>
                <a:spcPts val="1437"/>
              </a:spcBef>
              <a:spcAft>
                <a:spcPts val="26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13000"/>
              </a:lnSpc>
              <a:spcBef>
                <a:spcPts val="1437"/>
              </a:spcBef>
              <a:spcAft>
                <a:spcPts val="26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>
              <a:lnSpc>
                <a:spcPct val="113000"/>
              </a:lnSpc>
              <a:spcBef>
                <a:spcPts val="1437"/>
              </a:spcBef>
              <a:spcAft>
                <a:spcPts val="26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1" indent="-343080" algn="l">
              <a:lnSpc>
                <a:spcPct val="113000"/>
              </a:lnSpc>
              <a:spcBef>
                <a:spcPts val="1437"/>
              </a:spcBef>
              <a:spcAft>
                <a:spcPts val="26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2" indent="-343080" algn="l">
              <a:lnSpc>
                <a:spcPct val="113000"/>
              </a:lnSpc>
              <a:spcBef>
                <a:spcPts val="1437"/>
              </a:spcBef>
              <a:spcAft>
                <a:spcPts val="26"/>
              </a:spcAft>
              <a:buClr>
                <a:srgbClr val="000000"/>
              </a:buClr>
              <a:buFont typeface="Times New Roman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3" indent="-343080" algn="l">
              <a:lnSpc>
                <a:spcPct val="113000"/>
              </a:lnSpc>
              <a:spcBef>
                <a:spcPts val="1437"/>
              </a:spcBef>
              <a:spcAft>
                <a:spcPts val="26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4" indent="-343080" algn="l">
              <a:lnSpc>
                <a:spcPct val="113000"/>
              </a:lnSpc>
              <a:spcBef>
                <a:spcPts val="1437"/>
              </a:spcBef>
              <a:spcAft>
                <a:spcPts val="26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5" indent="-343080" algn="l">
              <a:lnSpc>
                <a:spcPct val="113000"/>
              </a:lnSpc>
              <a:spcBef>
                <a:spcPts val="1437"/>
              </a:spcBef>
              <a:spcAft>
                <a:spcPts val="26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43080" lvl="6" indent="-343080" algn="l">
              <a:lnSpc>
                <a:spcPct val="113000"/>
              </a:lnSpc>
              <a:spcBef>
                <a:spcPts val="1437"/>
              </a:spcBef>
              <a:spcAft>
                <a:spcPts val="26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708120"/>
            <a:ext cx="10966680" cy="2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13000"/>
              </a:lnSpc>
              <a:spcBef>
                <a:spcPts val="26"/>
              </a:spcBef>
              <a:spcAft>
                <a:spcPts val="26"/>
              </a:spcAft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13000"/>
              </a:lnSpc>
              <a:spcBef>
                <a:spcPts val="26"/>
              </a:spcBef>
              <a:spcAft>
                <a:spcPts val="26"/>
              </a:spcAft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343080" indent="-343080" algn="l">
              <a:lnSpc>
                <a:spcPct val="113000"/>
              </a:lnSpc>
              <a:spcBef>
                <a:spcPts val="1437"/>
              </a:spcBef>
              <a:spcAft>
                <a:spcPts val="26"/>
              </a:spcAft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marL="743040" indent="-285840" algn="l">
              <a:lnSpc>
                <a:spcPct val="113000"/>
              </a:lnSpc>
              <a:spcBef>
                <a:spcPts val="1151"/>
              </a:spcBef>
              <a:spcAft>
                <a:spcPts val="26"/>
              </a:spcAft>
              <a:buNone/>
              <a:tabLst>
                <a:tab pos="0" algn="l"/>
              </a:tabLst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13000"/>
              </a:lnSpc>
              <a:spcBef>
                <a:spcPts val="876"/>
              </a:spcBef>
              <a:spcAft>
                <a:spcPts val="26"/>
              </a:spcAft>
              <a:buClr>
                <a:srgbClr val="000000"/>
              </a:buClr>
              <a:buFont typeface="Times New Roman"/>
              <a:buChar char="•"/>
              <a:tabLst>
                <a:tab pos="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13000"/>
              </a:lnSpc>
              <a:spcBef>
                <a:spcPts val="587"/>
              </a:spcBef>
              <a:spcAft>
                <a:spcPts val="26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13000"/>
              </a:lnSpc>
              <a:spcBef>
                <a:spcPts val="300"/>
              </a:spcBef>
              <a:spcAft>
                <a:spcPts val="26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>
              <a:lnSpc>
                <a:spcPct val="113000"/>
              </a:lnSpc>
              <a:spcBef>
                <a:spcPts val="1437"/>
              </a:spcBef>
              <a:spcAft>
                <a:spcPts val="26"/>
              </a:spcAft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43040" indent="-285840" algn="l">
              <a:lnSpc>
                <a:spcPct val="113000"/>
              </a:lnSpc>
              <a:spcBef>
                <a:spcPts val="1151"/>
              </a:spcBef>
              <a:spcAft>
                <a:spcPts val="26"/>
              </a:spcAft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143000" lvl="2" indent="-228600" algn="l">
              <a:lnSpc>
                <a:spcPct val="113000"/>
              </a:lnSpc>
              <a:spcBef>
                <a:spcPts val="876"/>
              </a:spcBef>
              <a:spcAft>
                <a:spcPts val="26"/>
              </a:spcAft>
              <a:buClr>
                <a:srgbClr val="000000"/>
              </a:buClr>
              <a:buFont typeface="Times New Roman"/>
              <a:buChar char="•"/>
              <a:tabLst>
                <a:tab pos="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600200" lvl="3" indent="-228600" algn="l">
              <a:lnSpc>
                <a:spcPct val="113000"/>
              </a:lnSpc>
              <a:spcBef>
                <a:spcPts val="587"/>
              </a:spcBef>
              <a:spcAft>
                <a:spcPts val="26"/>
              </a:spcAft>
              <a:buClr>
                <a:srgbClr val="000000"/>
              </a:buClr>
              <a:buFont typeface="Times New Roman"/>
              <a:buChar char="–"/>
              <a:tabLst>
                <a:tab pos="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lvl="4" indent="-228600" algn="l">
              <a:lnSpc>
                <a:spcPct val="113000"/>
              </a:lnSpc>
              <a:spcBef>
                <a:spcPts val="300"/>
              </a:spcBef>
              <a:spcAft>
                <a:spcPts val="26"/>
              </a:spcAft>
              <a:buClr>
                <a:srgbClr val="000000"/>
              </a:buClr>
              <a:buFont typeface="Times New Roman"/>
              <a:buChar char="»"/>
              <a:tabLst>
                <a:tab pos="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lvl="5" indent="-228600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057400" lvl="6" indent="-228600" algn="l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
<Relationship Id="rIdRef1" Type="http://schemas.openxmlformats.org/officeDocument/2006/relationships/hyperlink" Target="https://github.com/harveybc/predictor/blob/80a1513a/docs/tesis_maestria_ds/tesis_maestria_ciencia_datos_2025.docx" TargetMode="External"/><Relationship Id="rIdRef2" Type="http://schemas.openxmlformats.org/officeDocument/2006/relationships/hyperlink" Target="https://github.com/harveybc/heuristic-strategy/tree/f2d3922/docs/presentation_noise_20260927" TargetMode="External"/><Relationship Id="rIdRef3" Type="http://schemas.openxmlformats.org/officeDocument/2006/relationships/hyperlink" Target="https://otexts.com/fpp3/" TargetMode="External"/><Relationship Id="rIdRef4" Type="http://schemas.openxmlformats.org/officeDocument/2006/relationships/hyperlink" Target="https://www.statsmodels.org/stable/examples/notebooks/generated/stationarity_detrending_adf_kpss.html" TargetMode="External"/><Relationship Id="rIdRef5" Type="http://schemas.openxmlformats.org/officeDocument/2006/relationships/hyperlink" Target="https://docs.scipy.org/doc/scipy/reference/signal.html" TargetMode="External"/><Relationship Id="rIdRef6" Type="http://schemas.openxmlformats.org/officeDocument/2006/relationships/hyperlink" Target="https://doi.org/10.1007/s10618-019-00647-x" TargetMode="External"/><Relationship Id="rIdRef7" Type="http://schemas.openxmlformats.org/officeDocument/2006/relationships/hyperlink" Target="https://doi.org/10.1016/j.ijforecast.2019.02.011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
<Relationship Id="rIdRef8" Type="http://schemas.openxmlformats.org/officeDocument/2006/relationships/hyperlink" Target="https://arxiv.org/abs/1803.01271" TargetMode="External"/><Relationship Id="rIdRef9" Type="http://schemas.openxmlformats.org/officeDocument/2006/relationships/hyperlink" Target="https://proceedings.neurips.cc/paper/7181-attention-is-all-you-need" TargetMode="External"/><Relationship Id="rIdRef10" Type="http://schemas.openxmlformats.org/officeDocument/2006/relationships/hyperlink" Target="https://arxiv.org/abs/2301.08871" TargetMode="External"/><Relationship Id="rIdRef11" Type="http://schemas.openxmlformats.org/officeDocument/2006/relationships/hyperlink" Target="https://arxiv.org/abs/2211.14730" TargetMode="External"/><Relationship Id="rIdRef12" Type="http://schemas.openxmlformats.org/officeDocument/2006/relationships/hyperlink" Target="https://arxiv.org/abs/2310.06625" TargetMode="External"/><Relationship Id="rIdRef13" Type="http://schemas.openxmlformats.org/officeDocument/2006/relationships/hyperlink" Target="https://jmlr.org/papers/v11/cawley10a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31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62000" cy="6856560"/>
          </a:xfrm>
          <a:prstGeom prst="rect">
            <a:avLst/>
          </a:prstGeom>
          <a:solidFill>
            <a:srgbClr val="B85C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81000" tIns="46800" rIns="81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777960" y="1692360"/>
            <a:ext cx="10056960" cy="16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4000" b="0" u="none" strike="noStrike">
                <a:solidFill>
                  <a:srgbClr val="F7F4EE"/>
                </a:solidFill>
                <a:effectLst/>
                <a:uFillTx/>
                <a:latin typeface="Georgia"/>
                <a:ea typeface="Georgia"/>
              </a:rPr>
              <a:t>Diseño de </a:t>
            </a:r>
            <a:r>
              <a:rPr lang="en-US" sz="4000" b="0" u="none" strike="noStrike">
                <a:solidFill>
                  <a:srgbClr val="F7F4EE"/>
                </a:solidFill>
                <a:effectLst/>
                <a:uFillTx/>
                <a:latin typeface="Georgia"/>
                <a:ea typeface="Georgia"/>
              </a:rPr>
              <a:t>Representacio</a:t>
            </a:r>
            <a:r>
              <a:rPr lang="en-US" sz="4000" b="0" u="none" strike="noStrike">
                <a:solidFill>
                  <a:srgbClr val="F7F4EE"/>
                </a:solidFill>
                <a:effectLst/>
                <a:uFillTx/>
                <a:latin typeface="Georgia"/>
                <a:ea typeface="Georgia"/>
              </a:rPr>
              <a:t>nes </a:t>
            </a:r>
            <a:r>
              <a:rPr lang="en-US" sz="4000" b="0" u="none" strike="noStrike">
                <a:solidFill>
                  <a:srgbClr val="F7F4EE"/>
                </a:solidFill>
                <a:effectLst/>
                <a:uFillTx/>
                <a:latin typeface="Georgia"/>
                <a:ea typeface="Georgia"/>
              </a:rPr>
              <a:t>Temporales </a:t>
            </a:r>
            <a:r>
              <a:rPr lang="en-US" sz="4000" b="0" u="none" strike="noStrike">
                <a:solidFill>
                  <a:srgbClr val="F7F4EE"/>
                </a:solidFill>
                <a:effectLst/>
                <a:uFillTx/>
                <a:latin typeface="Georgia"/>
                <a:ea typeface="Georgia"/>
              </a:rPr>
              <a:t>Modulares </a:t>
            </a:r>
            <a:r>
              <a:rPr lang="en-US" sz="4000" b="0" u="none" strike="noStrike">
                <a:solidFill>
                  <a:srgbClr val="F7F4EE"/>
                </a:solidFill>
                <a:effectLst/>
                <a:uFillTx/>
                <a:latin typeface="Georgia"/>
                <a:ea typeface="Georgia"/>
              </a:rPr>
              <a:t>Basado en </a:t>
            </a:r>
            <a:r>
              <a:rPr lang="en-US" sz="4000" b="0" u="none" strike="noStrike">
                <a:solidFill>
                  <a:srgbClr val="F7F4EE"/>
                </a:solidFill>
                <a:effectLst/>
                <a:uFillTx/>
                <a:latin typeface="Georgia"/>
                <a:ea typeface="Georgia"/>
              </a:rPr>
              <a:t>Datos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777960" y="4243320"/>
            <a:ext cx="91425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2000" b="0" u="none" strike="noStrike">
                <a:solidFill>
                  <a:srgbClr val="F7F4EE"/>
                </a:solidFill>
                <a:effectLst/>
                <a:uFillTx/>
                <a:latin typeface="Georgia"/>
                <a:ea typeface="Georgia"/>
              </a:rPr>
              <a:t>Harvey Demian Bastidas </a:t>
            </a:r>
            <a:r>
              <a:rPr lang="en-US" sz="2000" b="0" u="none" strike="noStrike">
                <a:solidFill>
                  <a:srgbClr val="F7F4EE"/>
                </a:solidFill>
                <a:effectLst/>
                <a:uFillTx/>
                <a:latin typeface="Georgia"/>
                <a:ea typeface="Georgia"/>
              </a:rPr>
              <a:t>Caicedo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777960" y="4654440"/>
            <a:ext cx="914256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600" b="0" u="none" strike="noStrike">
                <a:solidFill>
                  <a:srgbClr val="C9D3DC"/>
                </a:solidFill>
                <a:effectLst/>
                <a:uFillTx/>
                <a:latin typeface="Calibri"/>
                <a:ea typeface="Calibri"/>
              </a:rPr>
              <a:t>Aspirante a  doctorado en </a:t>
            </a:r>
            <a:r>
              <a:rPr lang="en-US" sz="1600" b="0" u="none" strike="noStrike">
                <a:solidFill>
                  <a:srgbClr val="C9D3DC"/>
                </a:solidFill>
                <a:effectLst/>
                <a:uFillTx/>
                <a:latin typeface="Calibri"/>
                <a:ea typeface="Calibri"/>
              </a:rPr>
              <a:t>inteligencia artificial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777960" y="3863880"/>
            <a:ext cx="10650600" cy="20880"/>
          </a:xfrm>
          <a:prstGeom prst="rect">
            <a:avLst/>
          </a:prstGeom>
          <a:solidFill>
            <a:srgbClr val="B85C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24480" rIns="90000" bIns="-2448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>
            <a:off x="639720" y="347760"/>
            <a:ext cx="731376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639720" y="457200"/>
            <a:ext cx="10514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3200" b="1" u="none" strike="noStrike">
                <a:solidFill>
                  <a:srgbClr val="1B3148"/>
                </a:solidFill>
                <a:effectLst/>
                <a:uFillTx/>
                <a:latin typeface="Georgia"/>
                <a:ea typeface="Georgia"/>
              </a:rPr>
              <a:t>Co</a:t>
            </a:r>
            <a:r>
              <a:rPr lang="en-US" sz="3200" b="1" u="none" strike="noStrike">
                <a:solidFill>
                  <a:srgbClr val="1B3148"/>
                </a:solidFill>
                <a:effectLst/>
                <a:uFillTx/>
                <a:latin typeface="Georgia"/>
                <a:ea typeface="Georgia"/>
              </a:rPr>
              <a:t>nt</a:t>
            </a:r>
            <a:r>
              <a:rPr lang="en-US" sz="3200" b="1" u="none" strike="noStrike">
                <a:solidFill>
                  <a:srgbClr val="1B3148"/>
                </a:solidFill>
                <a:effectLst/>
                <a:uFillTx/>
                <a:latin typeface="Georgia"/>
                <a:ea typeface="Georgia"/>
              </a:rPr>
              <a:t>ex</a:t>
            </a:r>
            <a:r>
              <a:rPr lang="en-US" sz="3200" b="1" u="none" strike="noStrike">
                <a:solidFill>
                  <a:srgbClr val="1B3148"/>
                </a:solidFill>
                <a:effectLst/>
                <a:uFillTx/>
                <a:latin typeface="Georgia"/>
                <a:ea typeface="Georgia"/>
              </a:rPr>
              <a:t>to </a:t>
            </a:r>
            <a:r>
              <a:rPr lang="en-US" sz="3200" b="1" u="none" strike="noStrike">
                <a:solidFill>
                  <a:srgbClr val="1B3148"/>
                </a:solidFill>
                <a:effectLst/>
                <a:uFillTx/>
                <a:latin typeface="Georgia"/>
                <a:ea typeface="Georgia"/>
              </a:rPr>
              <a:t>Pe</a:t>
            </a:r>
            <a:r>
              <a:rPr lang="en-US" sz="3200" b="1" u="none" strike="noStrike">
                <a:solidFill>
                  <a:srgbClr val="1B3148"/>
                </a:solidFill>
                <a:effectLst/>
                <a:uFillTx/>
                <a:latin typeface="Georgia"/>
                <a:ea typeface="Georgia"/>
              </a:rPr>
              <a:t>rs</a:t>
            </a:r>
            <a:r>
              <a:rPr lang="en-US" sz="3200" b="1" u="none" strike="noStrike">
                <a:solidFill>
                  <a:srgbClr val="1B3148"/>
                </a:solidFill>
                <a:effectLst/>
                <a:uFillTx/>
                <a:latin typeface="Georgia"/>
                <a:ea typeface="Georgia"/>
              </a:rPr>
              <a:t>on</a:t>
            </a:r>
            <a:r>
              <a:rPr lang="en-US" sz="3200" b="1" u="none" strike="noStrike">
                <a:solidFill>
                  <a:srgbClr val="1B3148"/>
                </a:solidFill>
                <a:effectLst/>
                <a:uFillTx/>
                <a:latin typeface="Georgia"/>
                <a:ea typeface="Georgia"/>
              </a:rPr>
              <a:t>al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639720" y="6510240"/>
            <a:ext cx="731376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100" b="0" u="none" strike="noStrike">
                <a:solidFill>
                  <a:srgbClr val="5C6B78"/>
                </a:solidFill>
                <a:effectLst/>
                <a:uFillTx/>
                <a:latin typeface="Calibri"/>
                <a:ea typeface="Calibri"/>
              </a:rPr>
              <a:t>Harvey Demian Bastidas Caicedo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9509040" y="6510240"/>
            <a:ext cx="200988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100" b="0" u="none" strike="noStrike">
                <a:solidFill>
                  <a:srgbClr val="5C6B78"/>
                </a:solidFill>
                <a:effectLst/>
                <a:uFillTx/>
                <a:latin typeface="Calibri"/>
                <a:ea typeface="Calibri"/>
              </a:rPr>
              <a:t>2  /  13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595440" y="1281240"/>
            <a:ext cx="10604520" cy="100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685800" y="3200400"/>
            <a:ext cx="1023948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216000" indent="-216000">
              <a:lnSpc>
                <a:spcPct val="150000"/>
              </a:lnSpc>
              <a:spcBef>
                <a:spcPts val="26"/>
              </a:spcBef>
              <a:spcAft>
                <a:spcPts val="26"/>
              </a:spcAft>
              <a:buClr>
                <a:srgbClr val="2C3A48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22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48 años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26"/>
              </a:spcBef>
              <a:spcAft>
                <a:spcPts val="26"/>
              </a:spcAft>
              <a:buClr>
                <a:srgbClr val="2C3A48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22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Soltero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26"/>
              </a:spcBef>
              <a:spcAft>
                <a:spcPts val="26"/>
              </a:spcAft>
              <a:buClr>
                <a:srgbClr val="2C3A48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22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Interés por la programación y la IA (</a:t>
            </a:r>
            <a:r>
              <a:rPr lang="en-US" sz="2200" b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algo-trading championship</a:t>
            </a:r>
            <a:r>
              <a:rPr lang="en-US" sz="22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/2007)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26"/>
              </a:spcBef>
              <a:spcAft>
                <a:spcPts val="26"/>
              </a:spcAft>
              <a:buClr>
                <a:srgbClr val="2C3A48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22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Viví en Cali 20 años, Bogotá 4 años, por estudios, trabajo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26"/>
              </a:spcBef>
              <a:spcAft>
                <a:spcPts val="26"/>
              </a:spcAft>
              <a:buClr>
                <a:srgbClr val="2C3A48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22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Desde hace 5 años vivo en Túquerres, Nariño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26"/>
              </a:spcBef>
              <a:spcAft>
                <a:spcPts val="26"/>
              </a:spcAft>
              <a:buClr>
                <a:srgbClr val="2C3A48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22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El negocio de producción de leche = situación económica </a:t>
            </a:r>
            <a:r>
              <a:rPr lang="en-US" sz="2200" b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estable</a:t>
            </a:r>
            <a:r>
              <a:rPr lang="en-US" sz="22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26"/>
              </a:spcBef>
              <a:spcAft>
                <a:spcPts val="26"/>
              </a:spcAft>
              <a:buClr>
                <a:srgbClr val="2C3A48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2200" b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Tiempo disponible</a:t>
            </a:r>
            <a:r>
              <a:rPr lang="en-US" sz="22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 para el desarrollo open-source y/o para estudiar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50000"/>
              </a:lnSpc>
              <a:spcBef>
                <a:spcPts val="26"/>
              </a:spcBef>
              <a:spcAft>
                <a:spcPts val="26"/>
              </a:spcAft>
              <a:buClr>
                <a:srgbClr val="2C3A48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22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Dispongo de los recursos y la motivación para el Doctorado en IA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639720" y="1130400"/>
            <a:ext cx="10879200" cy="11160"/>
          </a:xfrm>
          <a:prstGeom prst="rect">
            <a:avLst/>
          </a:prstGeom>
          <a:solidFill>
            <a:srgbClr val="C9D3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34200" rIns="90000" bIns="-342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>
            <a:off x="639720" y="291960"/>
            <a:ext cx="1078740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2800" b="1" u="none" strike="noStrike">
                <a:solidFill>
                  <a:srgbClr val="1B3148"/>
                </a:solidFill>
                <a:effectLst/>
                <a:uFillTx/>
                <a:latin typeface="Georgia"/>
                <a:ea typeface="Georgia"/>
              </a:rPr>
              <a:t>Formación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639720" y="949320"/>
            <a:ext cx="10879200" cy="11160"/>
          </a:xfrm>
          <a:prstGeom prst="rect">
            <a:avLst/>
          </a:prstGeom>
          <a:solidFill>
            <a:srgbClr val="C9D3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34200" rIns="90000" bIns="-342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639720" y="6510240"/>
            <a:ext cx="731376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100" b="0" u="none" strike="noStrike">
                <a:solidFill>
                  <a:srgbClr val="5C6B78"/>
                </a:solidFill>
                <a:effectLst/>
                <a:uFillTx/>
                <a:latin typeface="Calibri"/>
                <a:ea typeface="Calibri"/>
              </a:rPr>
              <a:t>Harvey Demian Bastidas Caicedo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9509040" y="6510240"/>
            <a:ext cx="200988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100" b="0" u="none" strike="noStrike">
                <a:solidFill>
                  <a:srgbClr val="5C6B78"/>
                </a:solidFill>
                <a:effectLst/>
                <a:uFillTx/>
                <a:latin typeface="Calibri"/>
                <a:ea typeface="Calibri"/>
              </a:rPr>
              <a:t>3  /  13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639720" y="1587600"/>
            <a:ext cx="3517920" cy="4157640"/>
          </a:xfrm>
          <a:custGeom>
            <a:avLst/>
            <a:gdLst>
              <a:gd name="textAreaLeft" fmla="*/ 15840 w 3517920"/>
              <a:gd name="textAreaRight" fmla="*/ 3503520 w 3517920"/>
              <a:gd name="textAreaTop" fmla="*/ 15840 h 4157640"/>
              <a:gd name="textAreaBottom" fmla="*/ 4143240 h 4157640"/>
            </a:gdLst>
            <a:ahLst/>
            <a:cxnLst/>
            <a:rect l="textAreaLeft" t="textAreaTop" r="textAreaRight" b="textAreaBottom"/>
            <a:pathLst>
              <a:path w="21600" h="25526">
                <a:moveTo>
                  <a:pt x="336" y="0"/>
                </a:moveTo>
                <a:arcTo wR="336" hR="336" stAng="16200000" swAng="-5400000"/>
                <a:lnTo>
                  <a:pt x="0" y="25190"/>
                </a:lnTo>
                <a:arcTo wR="336" hR="336" stAng="10800000" swAng="-5400000"/>
                <a:lnTo>
                  <a:pt x="21264" y="25526"/>
                </a:lnTo>
                <a:arcTo wR="336" hR="336" stAng="5400000" swAng="-5400000"/>
                <a:lnTo>
                  <a:pt x="21600" y="336"/>
                </a:lnTo>
                <a:arcTo wR="336" hR="336" stAng="0" swAng="-5400000"/>
                <a:close/>
              </a:path>
            </a:pathLst>
          </a:custGeom>
          <a:solidFill>
            <a:srgbClr val="E4EEF2"/>
          </a:solidFill>
          <a:ln w="12600">
            <a:solidFill>
              <a:srgbClr val="C9D3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841320" y="1724040"/>
            <a:ext cx="31068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2200" b="0" u="none" strike="noStrike">
                <a:solidFill>
                  <a:srgbClr val="B85C38"/>
                </a:solidFill>
                <a:effectLst/>
                <a:uFillTx/>
                <a:latin typeface="Georgia"/>
                <a:ea typeface="Georgia"/>
              </a:rPr>
              <a:t>2011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841320" y="2181240"/>
            <a:ext cx="3106800" cy="77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2000" b="0" u="none" strike="noStrike">
                <a:solidFill>
                  <a:srgbClr val="1B3148"/>
                </a:solidFill>
                <a:effectLst/>
                <a:uFillTx/>
                <a:latin typeface="Georgia"/>
                <a:ea typeface="Georgia"/>
              </a:rPr>
              <a:t>Ingeniero electrónico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841320" y="3005280"/>
            <a:ext cx="31068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0" u="none" strike="noStrike">
                <a:solidFill>
                  <a:srgbClr val="5C6B78"/>
                </a:solidFill>
                <a:effectLst/>
                <a:uFillTx/>
                <a:latin typeface="Calibri"/>
                <a:ea typeface="Calibri"/>
              </a:rPr>
              <a:t>Universidad de San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0" u="none" strike="noStrike">
                <a:solidFill>
                  <a:srgbClr val="5C6B78"/>
                </a:solidFill>
                <a:effectLst/>
                <a:uFillTx/>
                <a:latin typeface="Calibri"/>
                <a:ea typeface="Calibri"/>
              </a:rPr>
              <a:t>Buenaventura Cali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841320" y="3736800"/>
            <a:ext cx="310680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Mat</a:t>
            </a:r>
            <a:r>
              <a:rPr lang="en-US" sz="1400" b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erias</a:t>
            </a:r>
            <a:r>
              <a:rPr lang="en-US" sz="1400" b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lang="en-US" sz="1400" b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tem</a:t>
            </a:r>
            <a:r>
              <a:rPr lang="en-US" sz="1400" b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as: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Teorí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a de 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la 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Infor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maci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ón, 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Com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unic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acion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Tesis</a:t>
            </a:r>
            <a:r>
              <a:rPr lang="en-US" sz="1400" b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Cont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rol 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de 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tráfic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o y 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calid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ad 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de 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servi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cio 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en 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una 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NPU. 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Direc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tor: 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Ósca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r 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Casa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s 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Garcí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4389480" y="1587600"/>
            <a:ext cx="3517920" cy="4157640"/>
          </a:xfrm>
          <a:custGeom>
            <a:avLst/>
            <a:gdLst>
              <a:gd name="textAreaLeft" fmla="*/ 15840 w 3517920"/>
              <a:gd name="textAreaRight" fmla="*/ 3503520 w 3517920"/>
              <a:gd name="textAreaTop" fmla="*/ 15840 h 4157640"/>
              <a:gd name="textAreaBottom" fmla="*/ 4143240 h 4157640"/>
            </a:gdLst>
            <a:ahLst/>
            <a:cxnLst/>
            <a:rect l="textAreaLeft" t="textAreaTop" r="textAreaRight" b="textAreaBottom"/>
            <a:pathLst>
              <a:path w="21600" h="25526">
                <a:moveTo>
                  <a:pt x="336" y="0"/>
                </a:moveTo>
                <a:arcTo wR="336" hR="336" stAng="16200000" swAng="-5400000"/>
                <a:lnTo>
                  <a:pt x="0" y="25190"/>
                </a:lnTo>
                <a:arcTo wR="336" hR="336" stAng="10800000" swAng="-5400000"/>
                <a:lnTo>
                  <a:pt x="21264" y="25526"/>
                </a:lnTo>
                <a:arcTo wR="336" hR="336" stAng="5400000" swAng="-5400000"/>
                <a:lnTo>
                  <a:pt x="21600" y="336"/>
                </a:lnTo>
                <a:arcTo wR="336" hR="336" stAng="0" swAng="-5400000"/>
                <a:close/>
              </a:path>
            </a:pathLst>
          </a:custGeom>
          <a:solidFill>
            <a:srgbClr val="FFFFFF"/>
          </a:solidFill>
          <a:ln w="12600">
            <a:solidFill>
              <a:srgbClr val="1B314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4591080" y="1724040"/>
            <a:ext cx="310680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2200" b="0" u="none" strike="noStrike">
                <a:solidFill>
                  <a:srgbClr val="B85C38"/>
                </a:solidFill>
                <a:effectLst/>
                <a:uFillTx/>
                <a:latin typeface="Georgia"/>
                <a:ea typeface="Georgia"/>
              </a:rPr>
              <a:t>2018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4591080" y="2181240"/>
            <a:ext cx="3106800" cy="77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2000" b="0" u="none" strike="noStrike">
                <a:solidFill>
                  <a:srgbClr val="1B3148"/>
                </a:solidFill>
                <a:effectLst/>
                <a:uFillTx/>
                <a:latin typeface="Georgia"/>
                <a:ea typeface="Georgia"/>
              </a:rPr>
              <a:t>Magíster en Ingeniería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4591080" y="3005280"/>
            <a:ext cx="31068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0" u="none" strike="noStrike">
                <a:solidFill>
                  <a:srgbClr val="5C6B78"/>
                </a:solidFill>
                <a:effectLst/>
                <a:uFillTx/>
                <a:latin typeface="Calibri"/>
                <a:ea typeface="Calibri"/>
              </a:rPr>
              <a:t>Pontificia Universidad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0" u="none" strike="noStrike">
                <a:solidFill>
                  <a:srgbClr val="5C6B78"/>
                </a:solidFill>
                <a:effectLst/>
                <a:uFillTx/>
                <a:latin typeface="Calibri"/>
                <a:ea typeface="Calibri"/>
              </a:rPr>
              <a:t>Javeriana, Cali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4591080" y="3736800"/>
            <a:ext cx="310680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Materias/temas: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Teoría de Juegos, Reconocimiento de Patrones, Calidad de Software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Tesis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Optimización evolutiva (NEAT) descentralizada, con blockchain . Directora: María Constanza Pabón.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8139240" y="1587600"/>
            <a:ext cx="3517920" cy="4157640"/>
          </a:xfrm>
          <a:custGeom>
            <a:avLst/>
            <a:gdLst>
              <a:gd name="textAreaLeft" fmla="*/ 15840 w 3517920"/>
              <a:gd name="textAreaRight" fmla="*/ 3503520 w 3517920"/>
              <a:gd name="textAreaTop" fmla="*/ 15840 h 4157640"/>
              <a:gd name="textAreaBottom" fmla="*/ 4143240 h 4157640"/>
            </a:gdLst>
            <a:ahLst/>
            <a:cxnLst/>
            <a:rect l="textAreaLeft" t="textAreaTop" r="textAreaRight" b="textAreaBottom"/>
            <a:pathLst>
              <a:path w="21600" h="25526">
                <a:moveTo>
                  <a:pt x="336" y="0"/>
                </a:moveTo>
                <a:arcTo wR="336" hR="336" stAng="16200000" swAng="-5400000"/>
                <a:lnTo>
                  <a:pt x="0" y="25190"/>
                </a:lnTo>
                <a:arcTo wR="336" hR="336" stAng="10800000" swAng="-5400000"/>
                <a:lnTo>
                  <a:pt x="21264" y="25526"/>
                </a:lnTo>
                <a:arcTo wR="336" hR="336" stAng="5400000" swAng="-5400000"/>
                <a:lnTo>
                  <a:pt x="21600" y="336"/>
                </a:lnTo>
                <a:arcTo wR="336" hR="336" stAng="0" swAng="-5400000"/>
                <a:close/>
              </a:path>
            </a:pathLst>
          </a:custGeom>
          <a:solidFill>
            <a:srgbClr val="F6E4D4"/>
          </a:solidFill>
          <a:ln w="12600">
            <a:solidFill>
              <a:srgbClr val="C9D3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8339040" y="1724040"/>
            <a:ext cx="310716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2200" b="0" u="none" strike="noStrike">
                <a:solidFill>
                  <a:srgbClr val="B85C38"/>
                </a:solidFill>
                <a:effectLst/>
                <a:uFillTx/>
                <a:latin typeface="Georgia"/>
                <a:ea typeface="Georgia"/>
              </a:rPr>
              <a:t>2025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8339040" y="2181240"/>
            <a:ext cx="3107160" cy="77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2000" b="0" u="none" strike="noStrike">
                <a:solidFill>
                  <a:srgbClr val="1B3148"/>
                </a:solidFill>
                <a:effectLst/>
                <a:uFillTx/>
                <a:latin typeface="Georgia"/>
                <a:ea typeface="Georgia"/>
              </a:rPr>
              <a:t>Magíster 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2000" b="0" u="none" strike="noStrike">
                <a:solidFill>
                  <a:srgbClr val="1B3148"/>
                </a:solidFill>
                <a:effectLst/>
                <a:uFillTx/>
                <a:latin typeface="Georgia"/>
                <a:ea typeface="Georgia"/>
              </a:rPr>
              <a:t>Ciencia de Datos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8339040" y="3005280"/>
            <a:ext cx="3107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0" u="none" strike="noStrike">
                <a:solidFill>
                  <a:srgbClr val="5C6B78"/>
                </a:solidFill>
                <a:effectLst/>
                <a:uFillTx/>
                <a:latin typeface="Calibri"/>
                <a:ea typeface="Calibri"/>
              </a:rPr>
              <a:t>Pontificia Universidad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0" u="none" strike="noStrike">
                <a:solidFill>
                  <a:srgbClr val="5C6B78"/>
                </a:solidFill>
                <a:effectLst/>
                <a:uFillTx/>
                <a:latin typeface="Calibri"/>
                <a:ea typeface="Calibri"/>
              </a:rPr>
              <a:t>Javeriana, Cali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8339040" y="3736800"/>
            <a:ext cx="310716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Materias/temas: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Gobernanza de datos, OLAP, Descomp.de Series de Tiempo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Tesis: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Comparación en pronóstico, de modelos de deep learning. 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Directora: María Constanza Pabón.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639720" y="5931000"/>
            <a:ext cx="1078740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>
            <a:off x="639720" y="291960"/>
            <a:ext cx="10787400" cy="47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2800" b="1" u="none" strike="noStrike">
                <a:solidFill>
                  <a:srgbClr val="1B3148"/>
                </a:solidFill>
                <a:effectLst/>
                <a:uFillTx/>
                <a:latin typeface="Georgia"/>
                <a:ea typeface="Georgia"/>
              </a:rPr>
              <a:t>Experiencia Profesional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646200" y="955800"/>
            <a:ext cx="10553760" cy="11160"/>
          </a:xfrm>
          <a:prstGeom prst="rect">
            <a:avLst/>
          </a:prstGeom>
          <a:solidFill>
            <a:srgbClr val="C9D3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34200" rIns="90000" bIns="-342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639720" y="6510240"/>
            <a:ext cx="731376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100" b="0" u="none" strike="noStrike">
                <a:solidFill>
                  <a:srgbClr val="5C6B78"/>
                </a:solidFill>
                <a:effectLst/>
                <a:uFillTx/>
                <a:latin typeface="Calibri"/>
                <a:ea typeface="Calibri"/>
              </a:rPr>
              <a:t>Harvey Demian Bastidas Caicedo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9280440" y="6510240"/>
            <a:ext cx="200988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100" b="0" u="none" strike="noStrike">
                <a:solidFill>
                  <a:srgbClr val="5C6B78"/>
                </a:solidFill>
                <a:effectLst/>
                <a:uFillTx/>
                <a:latin typeface="Calibri"/>
                <a:ea typeface="Calibri"/>
              </a:rPr>
              <a:t>4  /  13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685800" y="1574640"/>
            <a:ext cx="10422000" cy="11520"/>
          </a:xfrm>
          <a:prstGeom prst="rect">
            <a:avLst/>
          </a:prstGeom>
          <a:solidFill>
            <a:srgbClr val="C9D3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-33840" rIns="90000" bIns="-3384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1766880" y="1487520"/>
            <a:ext cx="217800" cy="217440"/>
          </a:xfrm>
          <a:prstGeom prst="ellipse">
            <a:avLst/>
          </a:prstGeom>
          <a:solidFill>
            <a:srgbClr val="1B31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716040" y="1862280"/>
            <a:ext cx="260352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300" b="0" u="none" strike="noStrike">
                <a:solidFill>
                  <a:srgbClr val="B85C38"/>
                </a:solidFill>
                <a:effectLst/>
                <a:uFillTx/>
                <a:latin typeface="Calibri"/>
                <a:ea typeface="Calibri"/>
              </a:rPr>
              <a:t>2005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679320" y="2398680"/>
            <a:ext cx="2603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800" b="1" u="none" strike="noStrike">
                <a:solidFill>
                  <a:srgbClr val="1B3148"/>
                </a:solidFill>
                <a:effectLst/>
                <a:uFillTx/>
                <a:latin typeface="Georgia"/>
                <a:ea typeface="Georgia"/>
              </a:rPr>
              <a:t>Aironet S.A.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623880" y="3384720"/>
            <a:ext cx="2603520" cy="12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216000" indent="-216000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buClr>
                <a:srgbClr val="2C3A48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Servidores linux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buClr>
                <a:srgbClr val="2C3A48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Red de un proveedor de internet.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buClr>
                <a:srgbClr val="2C3A48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Contról de tráfico y QoS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Implementación de </a:t>
            </a:r>
            <a:r>
              <a:rPr lang="en-US" sz="1400" b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NEAT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/C++ para </a:t>
            </a:r>
            <a:r>
              <a:rPr lang="en-US" sz="1400" b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algo-trading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0" i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Bash scripts, PHP, PGSQL, C++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4556160" y="1487520"/>
            <a:ext cx="217440" cy="217440"/>
          </a:xfrm>
          <a:prstGeom prst="ellipse">
            <a:avLst/>
          </a:prstGeom>
          <a:solidFill>
            <a:srgbClr val="1B31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3505320" y="1862280"/>
            <a:ext cx="260352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300" b="0" u="none" strike="noStrike">
                <a:solidFill>
                  <a:srgbClr val="B85C38"/>
                </a:solidFill>
                <a:effectLst/>
                <a:uFillTx/>
                <a:latin typeface="Calibri"/>
                <a:ea typeface="Calibri"/>
              </a:rPr>
              <a:t>2011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3397320" y="2398680"/>
            <a:ext cx="2603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800" b="1" u="none" strike="noStrike">
                <a:solidFill>
                  <a:srgbClr val="1B3148"/>
                </a:solidFill>
                <a:effectLst/>
                <a:uFillTx/>
                <a:latin typeface="Georgia"/>
                <a:ea typeface="Georgia"/>
              </a:rPr>
              <a:t>Cervecería del Valle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3386160" y="3751200"/>
            <a:ext cx="2603520" cy="12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216000" indent="-216000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buClr>
                <a:srgbClr val="2C3A48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Prácticante → contratista.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buClr>
                <a:srgbClr val="2C3A48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Sensores, SCADA y redes.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buClr>
                <a:srgbClr val="2C3A48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Sistema de Manteniento Basado en Condición.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buClr>
                <a:srgbClr val="2C3A48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Automatizacion de backups.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Implementación de NEAT con candidatos en CUDA.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0" i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Bat Scripts, PHP, Javascipt, MySQL, C++ CUDA, </a:t>
            </a:r>
            <a:r>
              <a:rPr lang="en-US" sz="1400" b="1" i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GitHub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7345440" y="1487520"/>
            <a:ext cx="217440" cy="217440"/>
          </a:xfrm>
          <a:prstGeom prst="ellipse">
            <a:avLst/>
          </a:prstGeom>
          <a:solidFill>
            <a:srgbClr val="1B31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6292800" y="1862280"/>
            <a:ext cx="260352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300" b="0" u="none" strike="noStrike">
                <a:solidFill>
                  <a:srgbClr val="B85C38"/>
                </a:solidFill>
                <a:effectLst/>
                <a:uFillTx/>
                <a:latin typeface="Calibri"/>
                <a:ea typeface="Calibri"/>
              </a:rPr>
              <a:t>2018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6292800" y="2398680"/>
            <a:ext cx="2603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800" b="1" u="none" strike="noStrike">
                <a:solidFill>
                  <a:srgbClr val="1B3148"/>
                </a:solidFill>
                <a:effectLst/>
                <a:uFillTx/>
                <a:latin typeface="Georgia"/>
                <a:ea typeface="Georgia"/>
              </a:rPr>
              <a:t>Freelance Dev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6310440" y="3668760"/>
            <a:ext cx="2603520" cy="12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216000" indent="-216000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buClr>
                <a:srgbClr val="2C3A48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pli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ca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ci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ne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s 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eb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yS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Q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L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buClr>
                <a:srgbClr val="2C3A48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ap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as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ap 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Se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rv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er, 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Ar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GI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S 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(O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SS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O)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Ope</a:t>
            </a:r>
            <a:r>
              <a:rPr lang="en-US" sz="1400" b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n </a:t>
            </a:r>
            <a:r>
              <a:rPr lang="en-US" sz="1400" b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sour</a:t>
            </a:r>
            <a:r>
              <a:rPr lang="en-US" sz="1400" b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ce: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buClr>
                <a:srgbClr val="2C3A48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y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m 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en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vir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en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t 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fo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r 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FX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buClr>
                <a:srgbClr val="2C3A48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EA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T 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tr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ad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in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g 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ag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en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buClr>
                <a:srgbClr val="2C3A48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400" b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ec</a:t>
            </a:r>
            <a:r>
              <a:rPr lang="en-US" sz="1400" b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nt</a:t>
            </a:r>
            <a:r>
              <a:rPr lang="en-US" sz="1400" b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ra</a:t>
            </a:r>
            <a:r>
              <a:rPr lang="en-US" sz="1400" b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liz</a:t>
            </a:r>
            <a:r>
              <a:rPr lang="en-US" sz="1400" b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EA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T 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y 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0" i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PHP, </a:t>
            </a:r>
            <a:r>
              <a:rPr lang="en-US" sz="1400" b="0" i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Javas</a:t>
            </a:r>
            <a:r>
              <a:rPr lang="en-US" sz="1400" b="0" i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cript, </a:t>
            </a:r>
            <a:r>
              <a:rPr lang="en-US" sz="1400" b="1" i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Pyth</a:t>
            </a:r>
            <a:r>
              <a:rPr lang="en-US" sz="1400" b="1" i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on</a:t>
            </a:r>
            <a:r>
              <a:rPr lang="en-US" sz="1400" b="0" i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en-US" sz="1400" b="0" i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Node</a:t>
            </a:r>
            <a:r>
              <a:rPr lang="en-US" sz="1400" b="0" i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.js, </a:t>
            </a:r>
            <a:r>
              <a:rPr lang="en-US" sz="1400" b="0" i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REST </a:t>
            </a:r>
            <a:r>
              <a:rPr lang="en-US" sz="1400" b="0" i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API, </a:t>
            </a:r>
            <a:r>
              <a:rPr lang="en-US" sz="1400" b="0" i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JSON</a:t>
            </a:r>
            <a:r>
              <a:rPr lang="en-US" sz="1400" b="0" i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en-US" sz="1400" b="0" i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Sqlit</a:t>
            </a:r>
            <a:r>
              <a:rPr lang="en-US" sz="1400" b="0" i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10134720" y="1495440"/>
            <a:ext cx="217440" cy="217800"/>
          </a:xfrm>
          <a:prstGeom prst="ellipse">
            <a:avLst/>
          </a:prstGeom>
          <a:solidFill>
            <a:srgbClr val="1B31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9282240" y="1887480"/>
            <a:ext cx="260352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300" b="0" u="none" strike="noStrike">
                <a:solidFill>
                  <a:srgbClr val="B85C38"/>
                </a:solidFill>
                <a:effectLst/>
                <a:uFillTx/>
                <a:latin typeface="Calibri"/>
                <a:ea typeface="Calibri"/>
              </a:rPr>
              <a:t>2021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9082080" y="2397240"/>
            <a:ext cx="2603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800" b="1" u="none" strike="noStrike">
                <a:solidFill>
                  <a:srgbClr val="1B3148"/>
                </a:solidFill>
                <a:effectLst/>
                <a:uFillTx/>
                <a:latin typeface="Georgia"/>
                <a:ea typeface="Georgia"/>
              </a:rPr>
              <a:t>Open Source Dev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9082080" y="3770280"/>
            <a:ext cx="2603520" cy="12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216000" indent="-216000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buClr>
                <a:srgbClr val="2C3A48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Data Governance (data-gov)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buClr>
                <a:srgbClr val="2C3A48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Optimización P2P (</a:t>
            </a:r>
            <a:r>
              <a:rPr lang="en-US" sz="1400" b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doin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buClr>
                <a:srgbClr val="2C3A48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RL (gym-fx+agent-multi)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buClr>
                <a:srgbClr val="2C3A48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Timeseries Forecasting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buClr>
                <a:srgbClr val="2C3A48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Autoencoder(feature-ext)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buClr>
                <a:srgbClr val="2C3A48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Datos Sintéticos (varios)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buClr>
                <a:srgbClr val="2C3A48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1400" b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Algo-trading</a:t>
            </a:r>
            <a:r>
              <a:rPr lang="en-US" sz="1400" b="0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 (varios)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br>
              <a:rPr sz="1400"/>
            </a:br>
            <a:r>
              <a:rPr lang="en-US" sz="1400" b="0" i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Keras/PyTorch, Modular Components, Analytics DB, </a:t>
            </a:r>
            <a:r>
              <a:rPr lang="en-US" sz="1400" b="1" i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OLAP</a:t>
            </a:r>
            <a:r>
              <a:rPr lang="en-US" sz="1400" b="0" i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, TDD, </a:t>
            </a:r>
            <a:r>
              <a:rPr lang="en-US" sz="1400" b="0" i="1" u="none" strike="noStrike">
                <a:solidFill>
                  <a:srgbClr val="2C3A48"/>
                </a:solidFill>
                <a:effectLst/>
                <a:uFillTx/>
                <a:latin typeface="Calibri"/>
                <a:ea typeface="Calibri"/>
              </a:rPr>
              <a:t>CRISP-DM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/>
          <p:nvPr/>
        </p:nvSpPr>
        <p:spPr>
          <a:xfrm>
            <a:off x="630000" y="234000"/>
            <a:ext cx="1079856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630000" y="522000"/>
            <a:ext cx="1079856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</a:pPr>
            <a:r>
              <a:rPr lang="en-US" sz="2800" b="1" u="none" strike="noStrike">
                <a:solidFill>
                  <a:srgbClr val="1B3148"/>
                </a:solidFill>
                <a:effectLst/>
                <a:uFillTx/>
                <a:latin typeface="Georgia"/>
                <a:ea typeface="Georgia"/>
              </a:rPr>
              <a:t>Motivación: Una ventaja pequeña puede importar mucho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630000" y="6534000"/>
            <a:ext cx="971856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u="none" strike="noStrike">
                <a:solidFill>
                  <a:srgbClr val="5C6B78"/>
                </a:solidFill>
                <a:effectLst/>
                <a:uFillTx/>
                <a:latin typeface="Arial"/>
                <a:ea typeface="DejaVu Sans"/>
              </a:rPr>
              <a:t>Harvey Demian Bastidas Caicedo  ·  Propuesta doctoral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11016000" y="6534000"/>
            <a:ext cx="43056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u="none" strike="noStrike">
                <a:solidFill>
                  <a:srgbClr val="5C6B78"/>
                </a:solidFill>
                <a:effectLst/>
                <a:uFillTx/>
                <a:latin typeface="Arial"/>
                <a:ea typeface="DejaVu Sans"/>
              </a:rPr>
              <a:t>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30000" y="6012000"/>
            <a:ext cx="10924560" cy="394560"/>
          </a:xfrm>
          <a:prstGeom prst="rect">
            <a:avLst/>
          </a:prstGeom>
          <a:solidFill>
            <a:srgbClr val="E3EE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756000" y="6076800"/>
            <a:ext cx="1061856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Motivación: El extractor de características con Conv1D </a:t>
            </a:r>
            <a:r>
              <a:rPr lang="en-US" sz="18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produjo el mejor resultado.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"/>
          <p:cNvPicPr/>
          <p:nvPr/>
        </p:nvPicPr>
        <p:blipFill>
          <a:blip r:embed="rId1"/>
          <a:stretch/>
        </p:blipFill>
        <p:spPr>
          <a:xfrm>
            <a:off x="84600" y="1259280"/>
            <a:ext cx="5714280" cy="428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"/>
          <p:cNvPicPr/>
          <p:nvPr/>
        </p:nvPicPr>
        <p:blipFill>
          <a:blip r:embed="rId2"/>
          <a:stretch/>
        </p:blipFill>
        <p:spPr>
          <a:xfrm>
            <a:off x="5748840" y="1515600"/>
            <a:ext cx="5993640" cy="374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630000" y="6534000"/>
            <a:ext cx="971856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u="none" strike="noStrike">
                <a:solidFill>
                  <a:srgbClr val="5C6B78"/>
                </a:solidFill>
                <a:effectLst/>
                <a:uFillTx/>
                <a:latin typeface="Arial"/>
                <a:ea typeface="DejaVu Sans"/>
              </a:rPr>
              <a:t>Harvey Demian Bastidas Caicedo  ·  Propuesta doctoral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838440" y="5424480"/>
            <a:ext cx="4647960" cy="346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s-CO" sz="9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Figura 1. Sharpe ratio de simulaciones de trading en datos de test, tesis de M.DS [1, fig. 43]. Usa </a:t>
            </a:r>
            <a:r>
              <a:rPr lang="es-CO" sz="9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estrategia heurística de trading basada en predicciones de corto y largo plazo [2]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6400800" y="5404320"/>
            <a:ext cx="4647960" cy="346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s-CO" sz="9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Figura 2. Barrido de ruido gaussiano sobre un oráculo direccional: resultados y datos históricos de heuristic-strategy [2].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>
            <a:off x="0" y="0"/>
            <a:ext cx="12191760" cy="6856560"/>
          </a:xfrm>
          <a:prstGeom prst="rect">
            <a:avLst/>
          </a:prstGeom>
          <a:solidFill>
            <a:srgbClr val="F3EE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630000" y="522000"/>
            <a:ext cx="1079856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100" b="1" u="none" strike="noStrike">
                <a:solidFill>
                  <a:srgbClr val="1B3148"/>
                </a:solidFill>
                <a:effectLst/>
                <a:uFillTx/>
                <a:latin typeface="Times New Roman"/>
                <a:ea typeface="DejaVu Sans"/>
              </a:rPr>
              <a:t>El foco: Pronóstico y RL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630000" y="1180800"/>
            <a:ext cx="10924560" cy="11160"/>
          </a:xfrm>
          <a:prstGeom prst="rect">
            <a:avLst/>
          </a:prstGeom>
          <a:solidFill>
            <a:srgbClr val="C5D0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630000" y="6534000"/>
            <a:ext cx="971856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u="none" strike="noStrike">
                <a:solidFill>
                  <a:srgbClr val="5C6B78"/>
                </a:solidFill>
                <a:effectLst/>
                <a:uFillTx/>
                <a:latin typeface="Arial"/>
                <a:ea typeface="DejaVu Sans"/>
              </a:rPr>
              <a:t>Harvey Demian Bastidas Caicedo  ·  Propuesta doctoral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11016000" y="6534000"/>
            <a:ext cx="43056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u="none" strike="noStrike">
                <a:solidFill>
                  <a:srgbClr val="5C6B78"/>
                </a:solidFill>
                <a:effectLst/>
                <a:uFillTx/>
                <a:latin typeface="Arial"/>
                <a:ea typeface="DejaVu Sans"/>
              </a:rPr>
              <a:t>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655560" y="1792440"/>
            <a:ext cx="4030560" cy="3922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630000" y="1764000"/>
            <a:ext cx="25560" cy="3922560"/>
          </a:xfrm>
          <a:prstGeom prst="rect">
            <a:avLst/>
          </a:prstGeom>
          <a:solidFill>
            <a:srgbClr val="247B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960" tIns="45000" rIns="1296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792000" y="1900800"/>
            <a:ext cx="372456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200" b="1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Entradas heterogéneas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792000" y="2376000"/>
            <a:ext cx="3724560" cy="32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Precios y tasas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Indicadores: RSI, MACD…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Fundam.: S&amp;P 500, VIX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Estacionales: HoD,DoW,MoY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Feature-Engineering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Calendario económico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Datos disponibles en Yahoo Finance y proveedores pagos como FX-MacroData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4932000" y="1764000"/>
            <a:ext cx="6622560" cy="1690560"/>
          </a:xfrm>
          <a:prstGeom prst="rect">
            <a:avLst/>
          </a:prstGeom>
          <a:solidFill>
            <a:srgbClr val="E3EE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4932000" y="1764000"/>
            <a:ext cx="25560" cy="1690560"/>
          </a:xfrm>
          <a:prstGeom prst="rect">
            <a:avLst/>
          </a:prstGeom>
          <a:solidFill>
            <a:srgbClr val="247B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960" tIns="45000" rIns="1296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5093640" y="1900800"/>
            <a:ext cx="631620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200" b="1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Dos tareas principales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5093640" y="2376000"/>
            <a:ext cx="6316200" cy="9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Supervisado</a:t>
            </a:r>
            <a:r>
              <a:rPr lang="en-US" sz="20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: objetivos por horizonte (naive)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RL</a:t>
            </a:r>
            <a:r>
              <a:rPr lang="en-US" sz="20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: política y valor sobre el estado disponible (SAC,DQN)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4932000" y="3708000"/>
            <a:ext cx="6622560" cy="1978560"/>
          </a:xfrm>
          <a:prstGeom prst="rect">
            <a:avLst/>
          </a:prstGeom>
          <a:solidFill>
            <a:srgbClr val="F6E3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4932000" y="3708000"/>
            <a:ext cx="25560" cy="1978560"/>
          </a:xfrm>
          <a:prstGeom prst="rect">
            <a:avLst/>
          </a:prstGeom>
          <a:solidFill>
            <a:srgbClr val="247B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960" tIns="45000" rIns="1296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5093640" y="3844800"/>
            <a:ext cx="631620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200" b="1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Dos tareas de apoyo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5093640" y="4319640"/>
            <a:ext cx="6316200" cy="12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Autosupervisado</a:t>
            </a:r>
            <a:r>
              <a:rPr lang="en-US" sz="20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: aprende representaciones(f-extr.)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No</a:t>
            </a:r>
            <a:r>
              <a:rPr lang="en-US" sz="20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-</a:t>
            </a:r>
            <a:r>
              <a:rPr lang="en-US" sz="2000" b="1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Supervisado: Regímenes de mercado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Opcional: Causal Inference</a:t>
            </a:r>
            <a:r>
              <a:rPr lang="en-US" sz="20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 para usar el calendario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630000" y="5868000"/>
            <a:ext cx="10924560" cy="394560"/>
          </a:xfrm>
          <a:prstGeom prst="rect">
            <a:avLst/>
          </a:prstGeom>
          <a:solidFill>
            <a:srgbClr val="E3EE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756000" y="5932800"/>
            <a:ext cx="1061856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9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Entradas con diferentes comportamientos, que pueden contener distintos niveles de ruido.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"/>
          <p:cNvSpPr/>
          <p:nvPr/>
        </p:nvSpPr>
        <p:spPr>
          <a:xfrm>
            <a:off x="630000" y="522000"/>
            <a:ext cx="1079856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100" b="1" u="none" strike="noStrike">
                <a:solidFill>
                  <a:srgbClr val="1B3148"/>
                </a:solidFill>
                <a:effectLst/>
                <a:uFillTx/>
                <a:latin typeface="Times New Roman"/>
                <a:ea typeface="DejaVu Sans"/>
              </a:rPr>
              <a:t>Pregunta de Investigación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630000" y="1180800"/>
            <a:ext cx="10924560" cy="11160"/>
          </a:xfrm>
          <a:prstGeom prst="rect">
            <a:avLst/>
          </a:prstGeom>
          <a:solidFill>
            <a:srgbClr val="C5D0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630000" y="6534000"/>
            <a:ext cx="971856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u="none" strike="noStrike">
                <a:solidFill>
                  <a:srgbClr val="5C6B78"/>
                </a:solidFill>
                <a:effectLst/>
                <a:uFillTx/>
                <a:latin typeface="Arial"/>
                <a:ea typeface="DejaVu Sans"/>
              </a:rPr>
              <a:t>Harvey Demian Bastidas Caicedo  ·  Propuesta doctoral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11016000" y="6534000"/>
            <a:ext cx="43056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u="none" strike="noStrike">
                <a:solidFill>
                  <a:srgbClr val="5C6B78"/>
                </a:solidFill>
                <a:effectLst/>
                <a:uFillTx/>
                <a:latin typeface="Arial"/>
                <a:ea typeface="DejaVu Sans"/>
              </a:rPr>
              <a:t>9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457200" y="2971800"/>
            <a:ext cx="594288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¿En que condiciones caracterizar las entradas para agruparlas por similitudes en </a:t>
            </a:r>
            <a:r>
              <a:rPr lang="en-US" sz="20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métricas y adaptar el preprocesamiento y extracción de características por grupo, </a:t>
            </a:r>
            <a:r>
              <a:rPr lang="en-US" sz="20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mejora el pronóstico o la política aprendida respecto a un control?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" name=""/>
          <p:cNvPicPr/>
          <p:nvPr/>
        </p:nvPicPr>
        <p:blipFill>
          <a:blip r:embed="rId1"/>
          <a:stretch/>
        </p:blipFill>
        <p:spPr>
          <a:xfrm>
            <a:off x="7285680" y="1407600"/>
            <a:ext cx="4372200" cy="430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"/>
          <p:cNvSpPr txBox="1"/>
          <p:nvPr/>
        </p:nvSpPr>
        <p:spPr>
          <a:xfrm>
            <a:off x="7808400" y="5859000"/>
            <a:ext cx="3429000" cy="346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s-CO" sz="9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Figura 3. Representación temporal modular para procesamiento diferenciado basado en datos 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rofile 3"/>
          <p:cNvSpPr/>
          <p:nvPr/>
        </p:nvSpPr>
        <p:spPr>
          <a:xfrm>
            <a:off x="0" y="0"/>
            <a:ext cx="121932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rofile 4"/>
          <p:cNvSpPr/>
          <p:nvPr/>
        </p:nvSpPr>
        <p:spPr>
          <a:xfrm>
            <a:off x="658440" y="292680"/>
            <a:ext cx="10058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8000"/>
              </a:lnSpc>
            </a:pPr>
            <a:r>
              <a:rPr lang="es-CO" sz="10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CARACTERIZACIÓN DE ENTRADAS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rofile 5"/>
          <p:cNvSpPr/>
          <p:nvPr/>
        </p:nvSpPr>
        <p:spPr>
          <a:xfrm>
            <a:off x="658440" y="69480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100" b="1" u="none" strike="noStrike">
                <a:solidFill>
                  <a:srgbClr val="1B3148"/>
                </a:solidFill>
                <a:effectLst/>
                <a:uFillTx/>
                <a:latin typeface="Times New Roman"/>
                <a:ea typeface="DejaVu Sans"/>
              </a:rPr>
              <a:t>¿Qué medimos para caracterizar una entrada?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rofile 6"/>
          <p:cNvSpPr/>
          <p:nvPr/>
        </p:nvSpPr>
        <p:spPr>
          <a:xfrm>
            <a:off x="658440" y="1334880"/>
            <a:ext cx="10881000" cy="11520"/>
          </a:xfrm>
          <a:prstGeom prst="rect">
            <a:avLst/>
          </a:prstGeom>
          <a:solidFill>
            <a:srgbClr val="DCE4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rofile 7"/>
          <p:cNvSpPr/>
          <p:nvPr/>
        </p:nvSpPr>
        <p:spPr>
          <a:xfrm>
            <a:off x="658440" y="1334880"/>
            <a:ext cx="785880" cy="36360"/>
          </a:xfrm>
          <a:prstGeom prst="rect">
            <a:avLst/>
          </a:prstGeom>
          <a:solidFill>
            <a:srgbClr val="147D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Profile 8"/>
          <p:cNvSpPr/>
          <p:nvPr/>
        </p:nvSpPr>
        <p:spPr>
          <a:xfrm>
            <a:off x="731520" y="1682640"/>
            <a:ext cx="5120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8000"/>
              </a:lnSpc>
            </a:pPr>
            <a:r>
              <a:rPr lang="es-CO" sz="22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Estacionariedad y deriva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rofile 9"/>
          <p:cNvSpPr/>
          <p:nvPr/>
        </p:nvSpPr>
        <p:spPr>
          <a:xfrm>
            <a:off x="731520" y="214884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8000"/>
              </a:lnSpc>
            </a:pPr>
            <a:r>
              <a:rPr lang="es-CO" sz="18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ADF / KPSS; media y varianza por bloques.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rofile 10"/>
          <p:cNvSpPr/>
          <p:nvPr/>
        </p:nvSpPr>
        <p:spPr>
          <a:xfrm>
            <a:off x="731520" y="2551320"/>
            <a:ext cx="5120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8000"/>
              </a:lnSpc>
            </a:pPr>
            <a:r>
              <a:rPr lang="es-CO" sz="16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Nivel, diferencias o retornos candidatos.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rofile 11"/>
          <p:cNvSpPr/>
          <p:nvPr/>
        </p:nvSpPr>
        <p:spPr>
          <a:xfrm>
            <a:off x="6400800" y="1682640"/>
            <a:ext cx="5120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8000"/>
              </a:lnSpc>
            </a:pPr>
            <a:r>
              <a:rPr lang="es-CO" sz="22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Estacionalidad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rofile 12"/>
          <p:cNvSpPr/>
          <p:nvPr/>
        </p:nvSpPr>
        <p:spPr>
          <a:xfrm>
            <a:off x="6400800" y="214884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8000"/>
              </a:lnSpc>
            </a:pPr>
            <a:r>
              <a:rPr lang="es-CO" sz="18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Fuerza estacional STL; periodo y estabilidad.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rofile 13"/>
          <p:cNvSpPr/>
          <p:nvPr/>
        </p:nvSpPr>
        <p:spPr>
          <a:xfrm>
            <a:off x="6400800" y="2551320"/>
            <a:ext cx="5120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8000"/>
              </a:lnSpc>
            </a:pPr>
            <a:r>
              <a:rPr lang="es-CO" sz="16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Ciclos repetidos, distintos de estacionariedad.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rofile 14"/>
          <p:cNvSpPr/>
          <p:nvPr/>
        </p:nvSpPr>
        <p:spPr>
          <a:xfrm>
            <a:off x="731520" y="2962800"/>
            <a:ext cx="5120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8000"/>
              </a:lnSpc>
            </a:pPr>
            <a:r>
              <a:rPr lang="es-CO" sz="22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Memoria y frecuencia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rofile 15"/>
          <p:cNvSpPr/>
          <p:nvPr/>
        </p:nvSpPr>
        <p:spPr>
          <a:xfrm>
            <a:off x="731520" y="342900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8000"/>
              </a:lnSpc>
            </a:pPr>
            <a:r>
              <a:rPr lang="es-CO" sz="18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ACF / PACF; periodos y entropía espectral.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rofile 16"/>
          <p:cNvSpPr/>
          <p:nvPr/>
        </p:nvSpPr>
        <p:spPr>
          <a:xfrm>
            <a:off x="731520" y="3831480"/>
            <a:ext cx="5120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8000"/>
              </a:lnSpc>
            </a:pPr>
            <a:r>
              <a:rPr lang="es-CO" sz="16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Hilbert por banda: fase y periodo local.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rofile 17"/>
          <p:cNvSpPr/>
          <p:nvPr/>
        </p:nvSpPr>
        <p:spPr>
          <a:xfrm>
            <a:off x="6400800" y="2962800"/>
            <a:ext cx="5120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8000"/>
              </a:lnSpc>
            </a:pPr>
            <a:r>
              <a:rPr lang="es-CO" sz="22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Variabilidad y colas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rofile 18"/>
          <p:cNvSpPr/>
          <p:nvPr/>
        </p:nvSpPr>
        <p:spPr>
          <a:xfrm>
            <a:off x="6400800" y="342900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8000"/>
              </a:lnSpc>
            </a:pPr>
            <a:r>
              <a:rPr lang="es-CO" sz="18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MAD; cuantiles; ACF de |retornos|.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rofile 19"/>
          <p:cNvSpPr/>
          <p:nvPr/>
        </p:nvSpPr>
        <p:spPr>
          <a:xfrm>
            <a:off x="6400800" y="3831480"/>
            <a:ext cx="5120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8000"/>
              </a:lnSpc>
            </a:pPr>
            <a:r>
              <a:rPr lang="es-CO" sz="16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Escalado robusto y pérdidas candidatas.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rofile 20"/>
          <p:cNvSpPr/>
          <p:nvPr/>
        </p:nvSpPr>
        <p:spPr>
          <a:xfrm>
            <a:off x="731520" y="4242960"/>
            <a:ext cx="5120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8000"/>
              </a:lnSpc>
            </a:pPr>
            <a:r>
              <a:rPr lang="es-CO" sz="22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Relaciones entre entradas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rofile 21"/>
          <p:cNvSpPr/>
          <p:nvPr/>
        </p:nvSpPr>
        <p:spPr>
          <a:xfrm>
            <a:off x="731520" y="470916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8000"/>
              </a:lnSpc>
            </a:pPr>
            <a:r>
              <a:rPr lang="es-CO" sz="18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Correlación retardada y coherencia.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rofile 22"/>
          <p:cNvSpPr/>
          <p:nvPr/>
        </p:nvSpPr>
        <p:spPr>
          <a:xfrm>
            <a:off x="731520" y="5111640"/>
            <a:ext cx="5120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8000"/>
              </a:lnSpc>
            </a:pPr>
            <a:r>
              <a:rPr lang="es-CO" sz="16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Agrupación y alineación temporal.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rofile 23"/>
          <p:cNvSpPr/>
          <p:nvPr/>
        </p:nvSpPr>
        <p:spPr>
          <a:xfrm>
            <a:off x="6400800" y="4242960"/>
            <a:ext cx="5120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8000"/>
              </a:lnSpc>
            </a:pPr>
            <a:r>
              <a:rPr lang="es-CO" sz="22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Disponibilidad y calidad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rofile 24"/>
          <p:cNvSpPr/>
          <p:nvPr/>
        </p:nvSpPr>
        <p:spPr>
          <a:xfrm>
            <a:off x="6400800" y="470916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8000"/>
              </a:lnSpc>
            </a:pPr>
            <a:r>
              <a:rPr lang="es-CO" sz="18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Latencia, faltantes y revisiones.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rofile 25"/>
          <p:cNvSpPr/>
          <p:nvPr/>
        </p:nvSpPr>
        <p:spPr>
          <a:xfrm>
            <a:off x="6400800" y="5111640"/>
            <a:ext cx="5120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8000"/>
              </a:lnSpc>
            </a:pPr>
            <a:r>
              <a:rPr lang="es-CO" sz="16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Máscaras e información admisible al decidir.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rofile 26"/>
          <p:cNvSpPr/>
          <p:nvPr/>
        </p:nvSpPr>
        <p:spPr>
          <a:xfrm>
            <a:off x="731520" y="5669280"/>
            <a:ext cx="10698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8000"/>
              </a:lnSpc>
            </a:pPr>
            <a:r>
              <a:rPr lang="es-CO" sz="16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Perfil calculado solo en datos de entrenamiento, validación se usa </a:t>
            </a:r>
            <a:r>
              <a:rPr lang="es-CO" sz="16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durante optimización y test reservado.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rofile 27"/>
          <p:cNvSpPr/>
          <p:nvPr/>
        </p:nvSpPr>
        <p:spPr>
          <a:xfrm>
            <a:off x="731520" y="6089760"/>
            <a:ext cx="10698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8000"/>
              </a:lnSpc>
            </a:pPr>
            <a:r>
              <a:rPr lang="es-CO" sz="11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Fuentes: perfil y estacionalidad [3]; ADF/KPSS [4]; Hilbert, correlación y coherencia [5].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rofile 28"/>
          <p:cNvSpPr/>
          <p:nvPr/>
        </p:nvSpPr>
        <p:spPr>
          <a:xfrm>
            <a:off x="658440" y="6419160"/>
            <a:ext cx="10881000" cy="10440"/>
          </a:xfrm>
          <a:prstGeom prst="rect">
            <a:avLst/>
          </a:prstGeom>
          <a:solidFill>
            <a:srgbClr val="DCE4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rofile 29"/>
          <p:cNvSpPr/>
          <p:nvPr/>
        </p:nvSpPr>
        <p:spPr>
          <a:xfrm>
            <a:off x="658440" y="6546960"/>
            <a:ext cx="9600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8000"/>
              </a:lnSpc>
            </a:pPr>
            <a:r>
              <a:rPr lang="es-CO" sz="10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Harvey Demian Bastidas Caicedo  ·  Propuesta doctoral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rofile 30"/>
          <p:cNvSpPr/>
          <p:nvPr/>
        </p:nvSpPr>
        <p:spPr>
          <a:xfrm>
            <a:off x="10972800" y="6546960"/>
            <a:ext cx="456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8000"/>
              </a:lnSpc>
            </a:pPr>
            <a:r>
              <a:rPr lang="es-CO" sz="11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/>
          <p:nvPr/>
        </p:nvSpPr>
        <p:spPr>
          <a:xfrm>
            <a:off x="0" y="0"/>
            <a:ext cx="12191760" cy="6856560"/>
          </a:xfrm>
          <a:prstGeom prst="rect">
            <a:avLst/>
          </a:prstGeom>
          <a:solidFill>
            <a:srgbClr val="F3EE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630000" y="522000"/>
            <a:ext cx="1079856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100" b="1" u="none" strike="noStrike">
                <a:solidFill>
                  <a:srgbClr val="1B3148"/>
                </a:solidFill>
                <a:effectLst/>
                <a:uFillTx/>
                <a:latin typeface="Times New Roman"/>
                <a:ea typeface="DejaVu Sans"/>
              </a:rPr>
              <a:t>Cómo se forman los grupos y se elige la configuración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630000" y="1180800"/>
            <a:ext cx="10924560" cy="11160"/>
          </a:xfrm>
          <a:prstGeom prst="rect">
            <a:avLst/>
          </a:prstGeom>
          <a:solidFill>
            <a:srgbClr val="C5D0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630000" y="6534000"/>
            <a:ext cx="971856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u="none" strike="noStrike">
                <a:solidFill>
                  <a:srgbClr val="5C6B78"/>
                </a:solidFill>
                <a:effectLst/>
                <a:uFillTx/>
                <a:latin typeface="Arial"/>
                <a:ea typeface="DejaVu Sans"/>
              </a:rPr>
              <a:t>Harvey Demian Bastidas Caicedo  ·  Propuesta doctoral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11016000" y="6534000"/>
            <a:ext cx="43056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u="none" strike="noStrike">
                <a:solidFill>
                  <a:srgbClr val="5C6B78"/>
                </a:solidFill>
                <a:effectLst/>
                <a:uFillTx/>
                <a:latin typeface="Arial"/>
                <a:ea typeface="DejaVu Sans"/>
              </a:rPr>
              <a:t>14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630000" y="1764000"/>
            <a:ext cx="2554560" cy="2374560"/>
          </a:xfrm>
          <a:prstGeom prst="rect">
            <a:avLst/>
          </a:prstGeom>
          <a:solidFill>
            <a:srgbClr val="E3EE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630000" y="1764000"/>
            <a:ext cx="25560" cy="2374560"/>
          </a:xfrm>
          <a:prstGeom prst="rect">
            <a:avLst/>
          </a:prstGeom>
          <a:solidFill>
            <a:srgbClr val="247B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960" tIns="45000" rIns="1296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792000" y="1900800"/>
            <a:ext cx="224856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200" b="1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1 · Perfilar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792000" y="2376000"/>
            <a:ext cx="2248560" cy="167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Estadísticas de cada serie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en entrenamiento.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3420000" y="1764000"/>
            <a:ext cx="2554560" cy="2374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3420000" y="1764000"/>
            <a:ext cx="25560" cy="2374560"/>
          </a:xfrm>
          <a:prstGeom prst="rect">
            <a:avLst/>
          </a:prstGeom>
          <a:solidFill>
            <a:srgbClr val="247B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960" tIns="45000" rIns="1296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3582000" y="1900800"/>
            <a:ext cx="224856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200" b="1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2 · Agrupar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3582000" y="2376000"/>
            <a:ext cx="2248560" cy="167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Similitud + estabilidad.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Número de grupos candidato.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6210000" y="1764000"/>
            <a:ext cx="2554560" cy="2374560"/>
          </a:xfrm>
          <a:prstGeom prst="rect">
            <a:avLst/>
          </a:prstGeom>
          <a:solidFill>
            <a:srgbClr val="F6E3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6210000" y="1764000"/>
            <a:ext cx="25560" cy="2374560"/>
          </a:xfrm>
          <a:prstGeom prst="rect">
            <a:avLst/>
          </a:prstGeom>
          <a:solidFill>
            <a:srgbClr val="247B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960" tIns="45000" rIns="1296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6372000" y="1900800"/>
            <a:ext cx="224856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200" b="1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3 · Buscar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6372000" y="2376000"/>
            <a:ext cx="2248560" cy="167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Transformación + ventana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+ extractor por grupo.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9000000" y="1764000"/>
            <a:ext cx="2554560" cy="2374560"/>
          </a:xfrm>
          <a:prstGeom prst="rect">
            <a:avLst/>
          </a:prstGeom>
          <a:solidFill>
            <a:srgbClr val="E3EE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9000000" y="1764000"/>
            <a:ext cx="25560" cy="2374560"/>
          </a:xfrm>
          <a:prstGeom prst="rect">
            <a:avLst/>
          </a:prstGeom>
          <a:solidFill>
            <a:srgbClr val="247B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960" tIns="45000" rIns="1296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9162000" y="1900800"/>
            <a:ext cx="224856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200" b="1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4 · Evaluar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9162000" y="2376000"/>
            <a:ext cx="2248560" cy="167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Validación temporal interna;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prueba exterior intacta.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720000" y="4554000"/>
            <a:ext cx="10618560" cy="75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300" b="1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Controles: sin grupos · grupos </a:t>
            </a:r>
            <a:r>
              <a:rPr lang="en-US" sz="2300" b="1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aleatorios · tratamiento común.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300" b="1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Misma información, población y </a:t>
            </a:r>
            <a:r>
              <a:rPr lang="en-US" sz="2300" b="1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presupuesto de búsqueda </a:t>
            </a:r>
            <a:r>
              <a:rPr lang="en-US" sz="2300" b="1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declarado.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630000" y="5868000"/>
            <a:ext cx="10924560" cy="394560"/>
          </a:xfrm>
          <a:prstGeom prst="rect">
            <a:avLst/>
          </a:prstGeom>
          <a:solidFill>
            <a:srgbClr val="E3EE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756000" y="5932800"/>
            <a:ext cx="1061856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DOIN puede ejecutar la búsqueda; la contribución es el criterio de representación.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Reference 400"/>
          <p:cNvSpPr txBox="1"/>
          <p:nvPr/>
        </p:nvSpPr>
        <p:spPr>
          <a:xfrm>
            <a:off x="731520" y="5559552"/>
            <a:ext cx="10698480" cy="228600"/>
          </a:xfrm>
          <a:noFill/>
        </p:spPr>
        <p:txBody>
          <a:bodyPr wrap="square" lIns="0" rIns="0" tIns="0" bIns="0"/>
          <a:lstStyle/>
          <a:p>
            <a:pPr>
              <a:lnSpc>
                <a:spcPts val="1320"/>
              </a:lnSpc>
            </a:pPr>
            <a:r>
              <a:rPr lang="es-CO" sz="1100" b="0">
                <a:solidFill>
                  <a:srgbClr val="526372"/>
                </a:solidFill>
                <a:latin typeface="Arial"/>
              </a:rPr>
              <a:t>Antecedentes: perfiles estadísticos [6] y combinación de pronósticos basada en características [7].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>
            <a:off x="0" y="0"/>
            <a:ext cx="12191760" cy="6856560"/>
          </a:xfrm>
          <a:prstGeom prst="rect">
            <a:avLst/>
          </a:prstGeom>
          <a:solidFill>
            <a:srgbClr val="F3EE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630000" y="522000"/>
            <a:ext cx="1079856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3100" b="1" u="none" strike="noStrike">
                <a:solidFill>
                  <a:srgbClr val="1B3148"/>
                </a:solidFill>
                <a:effectLst/>
                <a:uFillTx/>
                <a:latin typeface="Times New Roman"/>
                <a:ea typeface="DejaVu Sans"/>
              </a:rPr>
              <a:t>Modelos Candidatos</a:t>
            </a:r>
            <a:endParaRPr lang="en-US" sz="31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630000" y="1180800"/>
            <a:ext cx="10924560" cy="11160"/>
          </a:xfrm>
          <a:prstGeom prst="rect">
            <a:avLst/>
          </a:prstGeom>
          <a:solidFill>
            <a:srgbClr val="C5D0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630000" y="6534000"/>
            <a:ext cx="971856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000" b="0" u="none" strike="noStrike">
                <a:solidFill>
                  <a:srgbClr val="5C6B78"/>
                </a:solidFill>
                <a:effectLst/>
                <a:uFillTx/>
                <a:latin typeface="Arial"/>
                <a:ea typeface="DejaVu Sans"/>
              </a:rPr>
              <a:t>Harvey Demian Bastidas Caicedo  ·  Propuesta doctoral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11016000" y="6534000"/>
            <a:ext cx="43056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100" b="0" u="none" strike="noStrike">
                <a:solidFill>
                  <a:srgbClr val="5C6B78"/>
                </a:solidFill>
                <a:effectLst/>
                <a:uFillTx/>
                <a:latin typeface="Arial"/>
                <a:ea typeface="DejaVu Sans"/>
              </a:rPr>
              <a:t>12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630000" y="1836000"/>
            <a:ext cx="3490560" cy="3130560"/>
          </a:xfrm>
          <a:prstGeom prst="rect">
            <a:avLst/>
          </a:prstGeom>
          <a:solidFill>
            <a:srgbClr val="E3EE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630000" y="1836000"/>
            <a:ext cx="25560" cy="3130560"/>
          </a:xfrm>
          <a:prstGeom prst="rect">
            <a:avLst/>
          </a:prstGeom>
          <a:solidFill>
            <a:srgbClr val="247B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960" tIns="45000" rIns="1296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792000" y="1972800"/>
            <a:ext cx="318456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200" b="1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Conv1D / TCN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792000" y="2448000"/>
            <a:ext cx="3184560" cy="24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1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Motivos locales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1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y multiescala.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1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Variar kernel, capas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1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y dilatación.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1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Medir campo receptivo.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4356000" y="1836000"/>
            <a:ext cx="3490560" cy="3130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4356000" y="1836000"/>
            <a:ext cx="25560" cy="3130560"/>
          </a:xfrm>
          <a:prstGeom prst="rect">
            <a:avLst/>
          </a:prstGeom>
          <a:solidFill>
            <a:srgbClr val="247B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960" tIns="45000" rIns="1296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4517640" y="1972800"/>
            <a:ext cx="318456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200" b="1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LSTM / GRU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4517640" y="2448000"/>
            <a:ext cx="3184560" cy="24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1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Dependencias secuenciales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1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y estado temporal.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1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Variar contexto, capas 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1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y profundidad.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8082000" y="1836000"/>
            <a:ext cx="3490560" cy="3130560"/>
          </a:xfrm>
          <a:prstGeom prst="rect">
            <a:avLst/>
          </a:prstGeom>
          <a:solidFill>
            <a:srgbClr val="F6E3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8082000" y="1836000"/>
            <a:ext cx="25560" cy="3130560"/>
          </a:xfrm>
          <a:prstGeom prst="rect">
            <a:avLst/>
          </a:prstGeom>
          <a:solidFill>
            <a:srgbClr val="247B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960" tIns="45000" rIns="12960" bIns="45000" anchor="ctr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8244000" y="1972800"/>
            <a:ext cx="3184560" cy="3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200" b="1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Atención/Transformer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8244000" y="2448000"/>
            <a:ext cx="3184560" cy="24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1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Relaciones distantes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1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y entre variables.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1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Variar tokens, dimensión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100" b="0" u="none" strike="noStrike">
                <a:solidFill>
                  <a:srgbClr val="1B3148"/>
                </a:solidFill>
                <a:effectLst/>
                <a:uFillTx/>
                <a:latin typeface="Arial"/>
                <a:ea typeface="DejaVu Sans"/>
              </a:rPr>
              <a:t>y número de cabezales.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720000" y="5292000"/>
            <a:ext cx="1069056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3000"/>
              </a:lnSpc>
              <a:spcBef>
                <a:spcPts val="26"/>
              </a:spcBef>
              <a:spcAft>
                <a:spcPts val="26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300" b="1" u="none" strike="noStrike">
                <a:solidFill>
                  <a:srgbClr val="247B78"/>
                </a:solidFill>
                <a:effectLst/>
                <a:uFillTx/>
                <a:latin typeface="Arial"/>
                <a:ea typeface="DejaVu Sans"/>
              </a:rPr>
              <a:t>Se selecciona por comparación de resultados experimentales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Reference 400"/>
          <p:cNvSpPr txBox="1"/>
          <p:nvPr/>
        </p:nvSpPr>
        <p:spPr>
          <a:xfrm>
            <a:off x="731520" y="6053328"/>
            <a:ext cx="10698480" cy="228600"/>
          </a:xfrm>
          <a:noFill/>
        </p:spPr>
        <p:txBody>
          <a:bodyPr wrap="square" lIns="0" rIns="0" tIns="0" bIns="0"/>
          <a:lstStyle/>
          <a:p>
            <a:pPr>
              <a:lnSpc>
                <a:spcPts val="1320"/>
              </a:lnSpc>
            </a:pPr>
            <a:r>
              <a:rPr lang="es-CO" sz="1100" b="0">
                <a:solidFill>
                  <a:srgbClr val="526372"/>
                </a:solidFill>
                <a:latin typeface="Arial"/>
              </a:rPr>
              <a:t>Fuentes: redes convolucionales y recurrentes [8]; atención multi-cabezal [9].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Element 2"/>
          <p:cNvSpPr/>
          <p:nvPr/>
        </p:nvSpPr>
        <p:spPr>
          <a:xfrm>
            <a:off x="-77040" y="720"/>
            <a:ext cx="1219284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Element 3"/>
          <p:cNvSpPr/>
          <p:nvPr/>
        </p:nvSpPr>
        <p:spPr>
          <a:xfrm>
            <a:off x="658440" y="292680"/>
            <a:ext cx="100576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0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HIPÓTESIS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Element 4"/>
          <p:cNvSpPr/>
          <p:nvPr/>
        </p:nvSpPr>
        <p:spPr>
          <a:xfrm>
            <a:off x="631080" y="621720"/>
            <a:ext cx="1097208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900" b="1" u="none" strike="noStrike">
                <a:solidFill>
                  <a:srgbClr val="203344"/>
                </a:solidFill>
                <a:effectLst/>
                <a:uFillTx/>
                <a:latin typeface="Times New Roman"/>
                <a:ea typeface="DejaVu Sans"/>
              </a:rPr>
              <a:t>Tres hipótesis que pondremos a </a:t>
            </a:r>
            <a:r>
              <a:rPr lang="es-CO" sz="2900" b="1" u="none" strike="noStrike">
                <a:solidFill>
                  <a:srgbClr val="203344"/>
                </a:solidFill>
                <a:effectLst/>
                <a:uFillTx/>
                <a:latin typeface="Times New Roman"/>
                <a:ea typeface="DejaVu Sans"/>
              </a:rPr>
              <a:t>prueba</a:t>
            </a:r>
            <a:endParaRPr lang="en-US" sz="29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Element 5"/>
          <p:cNvSpPr/>
          <p:nvPr/>
        </p:nvSpPr>
        <p:spPr>
          <a:xfrm>
            <a:off x="631080" y="1307520"/>
            <a:ext cx="10926360" cy="10080"/>
          </a:xfrm>
          <a:prstGeom prst="rect">
            <a:avLst/>
          </a:prstGeom>
          <a:solidFill>
            <a:srgbClr val="DCE4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Element 6"/>
          <p:cNvSpPr/>
          <p:nvPr/>
        </p:nvSpPr>
        <p:spPr>
          <a:xfrm>
            <a:off x="631080" y="1307520"/>
            <a:ext cx="785520" cy="36000"/>
          </a:xfrm>
          <a:prstGeom prst="rect">
            <a:avLst/>
          </a:prstGeom>
          <a:solidFill>
            <a:srgbClr val="147D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Element 7"/>
          <p:cNvSpPr/>
          <p:nvPr/>
        </p:nvSpPr>
        <p:spPr>
          <a:xfrm>
            <a:off x="631080" y="6419160"/>
            <a:ext cx="10926360" cy="8280"/>
          </a:xfrm>
          <a:prstGeom prst="rect">
            <a:avLst/>
          </a:prstGeom>
          <a:solidFill>
            <a:srgbClr val="DCE4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Element 8"/>
          <p:cNvSpPr/>
          <p:nvPr/>
        </p:nvSpPr>
        <p:spPr>
          <a:xfrm>
            <a:off x="631080" y="6537960"/>
            <a:ext cx="9600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0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Harvey Demian Bastidas Caicedo  ·  Propuesta doctoral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Element 9"/>
          <p:cNvSpPr/>
          <p:nvPr/>
        </p:nvSpPr>
        <p:spPr>
          <a:xfrm>
            <a:off x="10972800" y="6537960"/>
            <a:ext cx="5479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1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11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Element 10"/>
          <p:cNvSpPr/>
          <p:nvPr/>
        </p:nvSpPr>
        <p:spPr>
          <a:xfrm>
            <a:off x="1271160" y="1609200"/>
            <a:ext cx="24120" cy="1050840"/>
          </a:xfrm>
          <a:prstGeom prst="rect">
            <a:avLst/>
          </a:prstGeom>
          <a:solidFill>
            <a:srgbClr val="DCE4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40" tIns="45000" rIns="1224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Element 11"/>
          <p:cNvSpPr/>
          <p:nvPr/>
        </p:nvSpPr>
        <p:spPr>
          <a:xfrm>
            <a:off x="658440" y="1572840"/>
            <a:ext cx="639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7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H1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Element 12"/>
          <p:cNvSpPr/>
          <p:nvPr/>
        </p:nvSpPr>
        <p:spPr>
          <a:xfrm>
            <a:off x="1481400" y="1572840"/>
            <a:ext cx="9874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300" b="1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Mejora global del pronóstico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Element 13"/>
          <p:cNvSpPr/>
          <p:nvPr/>
        </p:nvSpPr>
        <p:spPr>
          <a:xfrm>
            <a:off x="1481400" y="1993320"/>
            <a:ext cx="97376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s-CO" sz="20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Caracterizar, agrupar y adaptar las ramas reduce el error global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CO" sz="20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frente al mejor control elegido en desarrollo.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Element 14"/>
          <p:cNvSpPr/>
          <p:nvPr/>
        </p:nvSpPr>
        <p:spPr>
          <a:xfrm>
            <a:off x="1481400" y="2615040"/>
            <a:ext cx="9737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65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Contraste: método completo vs. control, en familias de datos reservadas.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Element 15"/>
          <p:cNvSpPr/>
          <p:nvPr/>
        </p:nvSpPr>
        <p:spPr>
          <a:xfrm>
            <a:off x="1271160" y="3072240"/>
            <a:ext cx="24120" cy="1050840"/>
          </a:xfrm>
          <a:prstGeom prst="rect">
            <a:avLst/>
          </a:prstGeom>
          <a:solidFill>
            <a:srgbClr val="DCE4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40" tIns="45000" rIns="1224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Element 16"/>
          <p:cNvSpPr/>
          <p:nvPr/>
        </p:nvSpPr>
        <p:spPr>
          <a:xfrm>
            <a:off x="658440" y="3035880"/>
            <a:ext cx="639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7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H2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Element 17"/>
          <p:cNvSpPr/>
          <p:nvPr/>
        </p:nvSpPr>
        <p:spPr>
          <a:xfrm>
            <a:off x="1481400" y="3035880"/>
            <a:ext cx="9874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300" b="1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Agrupar ayuda más ante mayor heterogeneidad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Element 18"/>
          <p:cNvSpPr/>
          <p:nvPr/>
        </p:nvSpPr>
        <p:spPr>
          <a:xfrm>
            <a:off x="1481400" y="3456360"/>
            <a:ext cx="97376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s-CO" sz="20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La ventaja de los grupos por perfil aumenta al crecer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CO" sz="20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las diferencias temporales entre las variables.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Element 19"/>
          <p:cNvSpPr/>
          <p:nvPr/>
        </p:nvSpPr>
        <p:spPr>
          <a:xfrm>
            <a:off x="1481400" y="4078080"/>
            <a:ext cx="9737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65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Contraste: perfiles vs. grupos aleatorios; variar heterogeneidad, no ruido ni tamaño.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Element 20"/>
          <p:cNvSpPr/>
          <p:nvPr/>
        </p:nvSpPr>
        <p:spPr>
          <a:xfrm>
            <a:off x="1271160" y="4535280"/>
            <a:ext cx="24120" cy="1050840"/>
          </a:xfrm>
          <a:prstGeom prst="rect">
            <a:avLst/>
          </a:prstGeom>
          <a:solidFill>
            <a:srgbClr val="DCE4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40" tIns="45000" rIns="1224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Element 21"/>
          <p:cNvSpPr/>
          <p:nvPr/>
        </p:nvSpPr>
        <p:spPr>
          <a:xfrm>
            <a:off x="658440" y="4498920"/>
            <a:ext cx="639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7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H3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Element 22"/>
          <p:cNvSpPr/>
          <p:nvPr/>
        </p:nvSpPr>
        <p:spPr>
          <a:xfrm>
            <a:off x="1481400" y="4498920"/>
            <a:ext cx="9874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300" b="1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Conservar secuencias ayuda ante relaciones retardadas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Element 23"/>
          <p:cNvSpPr/>
          <p:nvPr/>
        </p:nvSpPr>
        <p:spPr>
          <a:xfrm>
            <a:off x="1481400" y="4919400"/>
            <a:ext cx="97376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s-CO" sz="20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Fusionar antes de colapsar dimensión temporal mejora el pronóstico, especialmente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CO" sz="20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cuando una entrada anticipa cambios en otra.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Element 24"/>
          <p:cNvSpPr/>
          <p:nvPr/>
        </p:nvSpPr>
        <p:spPr>
          <a:xfrm>
            <a:off x="1481400" y="5541120"/>
            <a:ext cx="9737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65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Contraste: secuencias vs. resumen; comparar con y sin relaciones retardadas.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Element 25"/>
          <p:cNvSpPr/>
          <p:nvPr/>
        </p:nvSpPr>
        <p:spPr>
          <a:xfrm>
            <a:off x="685800" y="6099120"/>
            <a:ext cx="10789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4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Antecedentes del perfilado y la selección por características: </a:t>
            </a:r>
            <a:r>
              <a:rPr lang="es-CO" sz="14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[6], [7].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Element 2"/>
          <p:cNvSpPr/>
          <p:nvPr/>
        </p:nvSpPr>
        <p:spPr>
          <a:xfrm>
            <a:off x="0" y="0"/>
            <a:ext cx="1219284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Element 3"/>
          <p:cNvSpPr/>
          <p:nvPr/>
        </p:nvSpPr>
        <p:spPr>
          <a:xfrm>
            <a:off x="658440" y="292680"/>
            <a:ext cx="100576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0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ENTRENAMIENTO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Element 4"/>
          <p:cNvSpPr/>
          <p:nvPr/>
        </p:nvSpPr>
        <p:spPr>
          <a:xfrm>
            <a:off x="631080" y="621720"/>
            <a:ext cx="1097208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900" b="1" u="none" strike="noStrike">
                <a:solidFill>
                  <a:srgbClr val="203344"/>
                </a:solidFill>
                <a:effectLst/>
                <a:uFillTx/>
                <a:latin typeface="Times New Roman"/>
                <a:ea typeface="DejaVu Sans"/>
              </a:rPr>
              <a:t>Tres formas de entrenar el mismo extractor</a:t>
            </a:r>
            <a:endParaRPr lang="en-US" sz="29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Element 5"/>
          <p:cNvSpPr/>
          <p:nvPr/>
        </p:nvSpPr>
        <p:spPr>
          <a:xfrm>
            <a:off x="631080" y="1307520"/>
            <a:ext cx="10926360" cy="10080"/>
          </a:xfrm>
          <a:prstGeom prst="rect">
            <a:avLst/>
          </a:prstGeom>
          <a:solidFill>
            <a:srgbClr val="DCE4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Element 6"/>
          <p:cNvSpPr/>
          <p:nvPr/>
        </p:nvSpPr>
        <p:spPr>
          <a:xfrm>
            <a:off x="631080" y="1307520"/>
            <a:ext cx="785520" cy="36000"/>
          </a:xfrm>
          <a:prstGeom prst="rect">
            <a:avLst/>
          </a:prstGeom>
          <a:solidFill>
            <a:srgbClr val="147D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Element 7"/>
          <p:cNvSpPr/>
          <p:nvPr/>
        </p:nvSpPr>
        <p:spPr>
          <a:xfrm>
            <a:off x="631080" y="6419160"/>
            <a:ext cx="10926360" cy="8280"/>
          </a:xfrm>
          <a:prstGeom prst="rect">
            <a:avLst/>
          </a:prstGeom>
          <a:solidFill>
            <a:srgbClr val="DCE4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Element 8"/>
          <p:cNvSpPr/>
          <p:nvPr/>
        </p:nvSpPr>
        <p:spPr>
          <a:xfrm>
            <a:off x="631080" y="6537960"/>
            <a:ext cx="9600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0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Harvey Demian Bastidas Caicedo  ·  Propuesta doctoral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Element 9"/>
          <p:cNvSpPr/>
          <p:nvPr/>
        </p:nvSpPr>
        <p:spPr>
          <a:xfrm>
            <a:off x="10972800" y="6537960"/>
            <a:ext cx="5479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1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12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Element 10"/>
          <p:cNvSpPr/>
          <p:nvPr/>
        </p:nvSpPr>
        <p:spPr>
          <a:xfrm>
            <a:off x="685800" y="1591200"/>
            <a:ext cx="107892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s-CO" sz="20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Autoencoder: aprende a reconstruir entradas usando solo </a:t>
            </a:r>
            <a:r>
              <a:rPr lang="es-CO" sz="20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entrenamiento.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CO" sz="20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Reutilizamos el codificador como detector; el decodificador se </a:t>
            </a:r>
            <a:r>
              <a:rPr lang="es-CO" sz="20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retira [10].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Element 11"/>
          <p:cNvSpPr/>
          <p:nvPr/>
        </p:nvSpPr>
        <p:spPr>
          <a:xfrm>
            <a:off x="640080" y="2423160"/>
            <a:ext cx="10899000" cy="529560"/>
          </a:xfrm>
          <a:prstGeom prst="rect">
            <a:avLst/>
          </a:prstGeom>
          <a:solidFill>
            <a:srgbClr val="EAF3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Element 12"/>
          <p:cNvSpPr/>
          <p:nvPr/>
        </p:nvSpPr>
        <p:spPr>
          <a:xfrm>
            <a:off x="822960" y="2551320"/>
            <a:ext cx="3016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800" b="1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Modalidad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Element 13"/>
          <p:cNvSpPr/>
          <p:nvPr/>
        </p:nvSpPr>
        <p:spPr>
          <a:xfrm>
            <a:off x="4023360" y="2551320"/>
            <a:ext cx="37026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800" b="1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Pesos iniciales del detector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Element 14"/>
          <p:cNvSpPr/>
          <p:nvPr/>
        </p:nvSpPr>
        <p:spPr>
          <a:xfrm>
            <a:off x="8138160" y="2551320"/>
            <a:ext cx="3108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800" b="1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En la tarea final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Element 15"/>
          <p:cNvSpPr/>
          <p:nvPr/>
        </p:nvSpPr>
        <p:spPr>
          <a:xfrm>
            <a:off x="822960" y="3218760"/>
            <a:ext cx="301680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85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R0 · Desde cero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Element 16"/>
          <p:cNvSpPr/>
          <p:nvPr/>
        </p:nvSpPr>
        <p:spPr>
          <a:xfrm>
            <a:off x="4023360" y="3218760"/>
            <a:ext cx="370260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85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Aleatorios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Element 17"/>
          <p:cNvSpPr/>
          <p:nvPr/>
        </p:nvSpPr>
        <p:spPr>
          <a:xfrm>
            <a:off x="8138160" y="3218760"/>
            <a:ext cx="310824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85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Se actualizan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Element 18"/>
          <p:cNvSpPr/>
          <p:nvPr/>
        </p:nvSpPr>
        <p:spPr>
          <a:xfrm>
            <a:off x="822960" y="3684960"/>
            <a:ext cx="10514880" cy="7560"/>
          </a:xfrm>
          <a:prstGeom prst="rect">
            <a:avLst/>
          </a:prstGeom>
          <a:solidFill>
            <a:srgbClr val="DCE4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720" rIns="90000" bIns="-36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Element 19"/>
          <p:cNvSpPr/>
          <p:nvPr/>
        </p:nvSpPr>
        <p:spPr>
          <a:xfrm>
            <a:off x="822960" y="3858840"/>
            <a:ext cx="301680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85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R1 · Congelado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Element 20"/>
          <p:cNvSpPr/>
          <p:nvPr/>
        </p:nvSpPr>
        <p:spPr>
          <a:xfrm>
            <a:off x="4023360" y="3858840"/>
            <a:ext cx="370260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85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Codificador preentrenado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Element 21"/>
          <p:cNvSpPr/>
          <p:nvPr/>
        </p:nvSpPr>
        <p:spPr>
          <a:xfrm>
            <a:off x="8138160" y="3858840"/>
            <a:ext cx="310824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85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Se congelan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Element 22"/>
          <p:cNvSpPr/>
          <p:nvPr/>
        </p:nvSpPr>
        <p:spPr>
          <a:xfrm>
            <a:off x="822960" y="4325040"/>
            <a:ext cx="10514880" cy="7560"/>
          </a:xfrm>
          <a:prstGeom prst="rect">
            <a:avLst/>
          </a:prstGeom>
          <a:solidFill>
            <a:srgbClr val="DCE4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720" rIns="90000" bIns="-36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Element 23"/>
          <p:cNvSpPr/>
          <p:nvPr/>
        </p:nvSpPr>
        <p:spPr>
          <a:xfrm>
            <a:off x="822960" y="4498920"/>
            <a:ext cx="301680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85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R2 · Ajustable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Element 24"/>
          <p:cNvSpPr/>
          <p:nvPr/>
        </p:nvSpPr>
        <p:spPr>
          <a:xfrm>
            <a:off x="4023360" y="4498920"/>
            <a:ext cx="370260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85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El mismo codificador de R1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Element 25"/>
          <p:cNvSpPr/>
          <p:nvPr/>
        </p:nvSpPr>
        <p:spPr>
          <a:xfrm>
            <a:off x="8138160" y="4498920"/>
            <a:ext cx="310824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85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Se actualizan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Element 26"/>
          <p:cNvSpPr/>
          <p:nvPr/>
        </p:nvSpPr>
        <p:spPr>
          <a:xfrm>
            <a:off x="822960" y="4965120"/>
            <a:ext cx="10514880" cy="7560"/>
          </a:xfrm>
          <a:prstGeom prst="rect">
            <a:avLst/>
          </a:prstGeom>
          <a:solidFill>
            <a:srgbClr val="DCE4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720" rIns="90000" bIns="-367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Element 27"/>
          <p:cNvSpPr/>
          <p:nvPr/>
        </p:nvSpPr>
        <p:spPr>
          <a:xfrm>
            <a:off x="777240" y="5248800"/>
            <a:ext cx="106063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s-CO" sz="21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R1 y R2 parten de los mismos pesos preentrenados por semilla.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CO" sz="21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En los tres casos se entrenan la fusión, el núcleo y el cabezal.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Element 28"/>
          <p:cNvSpPr/>
          <p:nvPr/>
        </p:nvSpPr>
        <p:spPr>
          <a:xfrm>
            <a:off x="777240" y="5998320"/>
            <a:ext cx="10606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0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Se compara utilidad en la tarea final y coste </a:t>
            </a:r>
            <a:r>
              <a:rPr lang="es-CO" sz="20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total, no solo reconstrucción.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Element 2"/>
          <p:cNvSpPr/>
          <p:nvPr/>
        </p:nvSpPr>
        <p:spPr>
          <a:xfrm>
            <a:off x="0" y="0"/>
            <a:ext cx="1219284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Element 3"/>
          <p:cNvSpPr/>
          <p:nvPr/>
        </p:nvSpPr>
        <p:spPr>
          <a:xfrm>
            <a:off x="658440" y="292680"/>
            <a:ext cx="100576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0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ALCANCE EXPERIMENTAL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Element 4"/>
          <p:cNvSpPr/>
          <p:nvPr/>
        </p:nvSpPr>
        <p:spPr>
          <a:xfrm>
            <a:off x="631080" y="621720"/>
            <a:ext cx="1097208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900" b="1" u="none" strike="noStrike">
                <a:solidFill>
                  <a:srgbClr val="203344"/>
                </a:solidFill>
                <a:effectLst/>
                <a:uFillTx/>
                <a:latin typeface="Times New Roman"/>
                <a:ea typeface="DejaVu Sans"/>
              </a:rPr>
              <a:t>Más allá del trading: evaluación en varios dominios</a:t>
            </a:r>
            <a:endParaRPr lang="en-US" sz="29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Element 5"/>
          <p:cNvSpPr/>
          <p:nvPr/>
        </p:nvSpPr>
        <p:spPr>
          <a:xfrm>
            <a:off x="631080" y="1307520"/>
            <a:ext cx="10926360" cy="10080"/>
          </a:xfrm>
          <a:prstGeom prst="rect">
            <a:avLst/>
          </a:prstGeom>
          <a:solidFill>
            <a:srgbClr val="DCE4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Element 6"/>
          <p:cNvSpPr/>
          <p:nvPr/>
        </p:nvSpPr>
        <p:spPr>
          <a:xfrm>
            <a:off x="631080" y="1307520"/>
            <a:ext cx="785520" cy="36000"/>
          </a:xfrm>
          <a:prstGeom prst="rect">
            <a:avLst/>
          </a:prstGeom>
          <a:solidFill>
            <a:srgbClr val="147D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Element 7"/>
          <p:cNvSpPr/>
          <p:nvPr/>
        </p:nvSpPr>
        <p:spPr>
          <a:xfrm>
            <a:off x="631080" y="6419160"/>
            <a:ext cx="10926360" cy="8280"/>
          </a:xfrm>
          <a:prstGeom prst="rect">
            <a:avLst/>
          </a:prstGeom>
          <a:solidFill>
            <a:srgbClr val="DCE4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Element 8"/>
          <p:cNvSpPr/>
          <p:nvPr/>
        </p:nvSpPr>
        <p:spPr>
          <a:xfrm>
            <a:off x="631080" y="6537960"/>
            <a:ext cx="9600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0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Harvey Demian Bastidas Caicedo  ·  Propuesta doctoral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Element 9"/>
          <p:cNvSpPr/>
          <p:nvPr/>
        </p:nvSpPr>
        <p:spPr>
          <a:xfrm>
            <a:off x="10972800" y="6537960"/>
            <a:ext cx="5479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1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13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Element 10"/>
          <p:cNvSpPr/>
          <p:nvPr/>
        </p:nvSpPr>
        <p:spPr>
          <a:xfrm>
            <a:off x="685800" y="1572840"/>
            <a:ext cx="108806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2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Fa</a:t>
            </a:r>
            <a:r>
              <a:rPr lang="es-CO" sz="22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mili</a:t>
            </a:r>
            <a:r>
              <a:rPr lang="es-CO" sz="22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as </a:t>
            </a:r>
            <a:r>
              <a:rPr lang="es-CO" sz="22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púb</a:t>
            </a:r>
            <a:r>
              <a:rPr lang="es-CO" sz="22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lica</a:t>
            </a:r>
            <a:r>
              <a:rPr lang="es-CO" sz="22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s </a:t>
            </a:r>
            <a:r>
              <a:rPr lang="es-CO" sz="22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de </a:t>
            </a:r>
            <a:r>
              <a:rPr lang="es-CO" sz="22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dist</a:t>
            </a:r>
            <a:r>
              <a:rPr lang="es-CO" sz="22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into</a:t>
            </a:r>
            <a:r>
              <a:rPr lang="es-CO" sz="22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s </a:t>
            </a:r>
            <a:r>
              <a:rPr lang="es-CO" sz="22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do</a:t>
            </a:r>
            <a:r>
              <a:rPr lang="es-CO" sz="22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min</a:t>
            </a:r>
            <a:r>
              <a:rPr lang="es-CO" sz="22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ios, </a:t>
            </a:r>
            <a:r>
              <a:rPr lang="es-CO" sz="22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con </a:t>
            </a:r>
            <a:r>
              <a:rPr lang="es-CO" sz="22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prot</a:t>
            </a:r>
            <a:r>
              <a:rPr lang="es-CO" sz="22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oco</a:t>
            </a:r>
            <a:r>
              <a:rPr lang="es-CO" sz="22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los </a:t>
            </a:r>
            <a:r>
              <a:rPr lang="es-CO" sz="22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de </a:t>
            </a:r>
            <a:r>
              <a:rPr lang="es-CO" sz="22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la </a:t>
            </a:r>
            <a:r>
              <a:rPr lang="es-CO" sz="22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liter</a:t>
            </a:r>
            <a:r>
              <a:rPr lang="es-CO" sz="22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atur</a:t>
            </a:r>
            <a:r>
              <a:rPr lang="es-CO" sz="22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a.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Element 11"/>
          <p:cNvSpPr/>
          <p:nvPr/>
        </p:nvSpPr>
        <p:spPr>
          <a:xfrm>
            <a:off x="685800" y="2002680"/>
            <a:ext cx="10880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7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Ejemplos de bancos: electricidad, clima y tráfico [11], [12]; </a:t>
            </a:r>
            <a:r>
              <a:rPr lang="es-CO" sz="17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selección antes de evaluar.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Element 12"/>
          <p:cNvSpPr/>
          <p:nvPr/>
        </p:nvSpPr>
        <p:spPr>
          <a:xfrm>
            <a:off x="731520" y="2724840"/>
            <a:ext cx="5936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5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E0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Element 13"/>
          <p:cNvSpPr/>
          <p:nvPr/>
        </p:nvSpPr>
        <p:spPr>
          <a:xfrm>
            <a:off x="1481400" y="2724840"/>
            <a:ext cx="4388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300" b="1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Mecanismos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Element 14"/>
          <p:cNvSpPr/>
          <p:nvPr/>
        </p:nvSpPr>
        <p:spPr>
          <a:xfrm>
            <a:off x="731520" y="3273480"/>
            <a:ext cx="5119920" cy="84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es-CO" sz="20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Sintéticos: ruido, ciclos y retardos.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s-CO" sz="20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Agrupación y fusión: H2 / H3.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Element 15"/>
          <p:cNvSpPr/>
          <p:nvPr/>
        </p:nvSpPr>
        <p:spPr>
          <a:xfrm>
            <a:off x="6400800" y="2724840"/>
            <a:ext cx="5936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5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E1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Element 16"/>
          <p:cNvSpPr/>
          <p:nvPr/>
        </p:nvSpPr>
        <p:spPr>
          <a:xfrm>
            <a:off x="7150680" y="2724840"/>
            <a:ext cx="4388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300" b="1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Desarrollo público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Element 17"/>
          <p:cNvSpPr/>
          <p:nvPr/>
        </p:nvSpPr>
        <p:spPr>
          <a:xfrm>
            <a:off x="6400800" y="3273480"/>
            <a:ext cx="5119920" cy="84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es-CO" sz="20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Fijar método, controles y presupuesto.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s-CO" sz="20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Transformaciones, modelos y R0 / R1 / R2.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Element 18"/>
          <p:cNvSpPr/>
          <p:nvPr/>
        </p:nvSpPr>
        <p:spPr>
          <a:xfrm>
            <a:off x="731520" y="4352400"/>
            <a:ext cx="5936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5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E2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Element 19"/>
          <p:cNvSpPr/>
          <p:nvPr/>
        </p:nvSpPr>
        <p:spPr>
          <a:xfrm>
            <a:off x="1481400" y="4352400"/>
            <a:ext cx="4388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300" b="1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Confirmación pública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Element 20"/>
          <p:cNvSpPr/>
          <p:nvPr/>
        </p:nvSpPr>
        <p:spPr>
          <a:xfrm>
            <a:off x="731520" y="4901040"/>
            <a:ext cx="5119920" cy="84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es-CO" sz="20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Otras familias, no usadas en desarrollo.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s-CO" sz="20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Prueba exterior reservada: H1.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Element 21"/>
          <p:cNvSpPr/>
          <p:nvPr/>
        </p:nvSpPr>
        <p:spPr>
          <a:xfrm>
            <a:off x="6400800" y="4352400"/>
            <a:ext cx="5936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5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E3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Element 22"/>
          <p:cNvSpPr/>
          <p:nvPr/>
        </p:nvSpPr>
        <p:spPr>
          <a:xfrm>
            <a:off x="7150680" y="4352400"/>
            <a:ext cx="43884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300" b="1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Aplicación financiera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Element 23"/>
          <p:cNvSpPr/>
          <p:nvPr/>
        </p:nvSpPr>
        <p:spPr>
          <a:xfrm>
            <a:off x="6400800" y="4901040"/>
            <a:ext cx="5119920" cy="84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es-CO" sz="20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Pronóstico y RL con costes y latencia.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s-CO" sz="20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Reentrenamiento y evaluación semanal.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Element 24"/>
          <p:cNvSpPr/>
          <p:nvPr/>
        </p:nvSpPr>
        <p:spPr>
          <a:xfrm>
            <a:off x="731520" y="6071760"/>
            <a:ext cx="107892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7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La generalización se contrasta entre familias; la utilidad financiera se evalúa por separado.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Element 2"/>
          <p:cNvSpPr/>
          <p:nvPr/>
        </p:nvSpPr>
        <p:spPr>
          <a:xfrm>
            <a:off x="0" y="0"/>
            <a:ext cx="1219284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Element 3"/>
          <p:cNvSpPr/>
          <p:nvPr/>
        </p:nvSpPr>
        <p:spPr>
          <a:xfrm>
            <a:off x="658440" y="292680"/>
            <a:ext cx="100576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0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COMPARABILIDAD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Element 4"/>
          <p:cNvSpPr/>
          <p:nvPr/>
        </p:nvSpPr>
        <p:spPr>
          <a:xfrm>
            <a:off x="631080" y="621720"/>
            <a:ext cx="1097208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900" b="1" u="none" strike="noStrike">
                <a:solidFill>
                  <a:srgbClr val="203344"/>
                </a:solidFill>
                <a:effectLst/>
                <a:uFillTx/>
                <a:latin typeface="Times New Roman"/>
                <a:ea typeface="DejaVu Sans"/>
              </a:rPr>
              <a:t>Comparar con la literatura, caso por caso</a:t>
            </a:r>
            <a:endParaRPr lang="en-US" sz="29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Element 5"/>
          <p:cNvSpPr/>
          <p:nvPr/>
        </p:nvSpPr>
        <p:spPr>
          <a:xfrm>
            <a:off x="631080" y="1307520"/>
            <a:ext cx="10926360" cy="10080"/>
          </a:xfrm>
          <a:prstGeom prst="rect">
            <a:avLst/>
          </a:prstGeom>
          <a:solidFill>
            <a:srgbClr val="DCE4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Element 6"/>
          <p:cNvSpPr/>
          <p:nvPr/>
        </p:nvSpPr>
        <p:spPr>
          <a:xfrm>
            <a:off x="631080" y="1307520"/>
            <a:ext cx="785520" cy="36000"/>
          </a:xfrm>
          <a:prstGeom prst="rect">
            <a:avLst/>
          </a:prstGeom>
          <a:solidFill>
            <a:srgbClr val="147D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Element 7"/>
          <p:cNvSpPr/>
          <p:nvPr/>
        </p:nvSpPr>
        <p:spPr>
          <a:xfrm>
            <a:off x="631080" y="6419160"/>
            <a:ext cx="10926360" cy="8280"/>
          </a:xfrm>
          <a:prstGeom prst="rect">
            <a:avLst/>
          </a:prstGeom>
          <a:solidFill>
            <a:srgbClr val="DCE4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Element 8"/>
          <p:cNvSpPr/>
          <p:nvPr/>
        </p:nvSpPr>
        <p:spPr>
          <a:xfrm>
            <a:off x="631080" y="6537960"/>
            <a:ext cx="9600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0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Harvey Demian Bastidas Caicedo  ·  Propuesta doctoral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Element 9"/>
          <p:cNvSpPr/>
          <p:nvPr/>
        </p:nvSpPr>
        <p:spPr>
          <a:xfrm>
            <a:off x="10972800" y="6537960"/>
            <a:ext cx="5479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1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14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Element 10"/>
          <p:cNvSpPr/>
          <p:nvPr/>
        </p:nvSpPr>
        <p:spPr>
          <a:xfrm>
            <a:off x="731520" y="1600200"/>
            <a:ext cx="107892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3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Primero reproducir la referencia; después contrastar nuestro método.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Element 11"/>
          <p:cNvSpPr/>
          <p:nvPr/>
        </p:nvSpPr>
        <p:spPr>
          <a:xfrm>
            <a:off x="777240" y="2313360"/>
            <a:ext cx="401760" cy="36000"/>
          </a:xfrm>
          <a:prstGeom prst="rect">
            <a:avLst/>
          </a:prstGeom>
          <a:solidFill>
            <a:srgbClr val="147D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Element 12"/>
          <p:cNvSpPr/>
          <p:nvPr/>
        </p:nvSpPr>
        <p:spPr>
          <a:xfrm>
            <a:off x="777240" y="2514600"/>
            <a:ext cx="3428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6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MISMOS DATOS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Element 13"/>
          <p:cNvSpPr/>
          <p:nvPr/>
        </p:nvSpPr>
        <p:spPr>
          <a:xfrm>
            <a:off x="777240" y="2944440"/>
            <a:ext cx="34282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es-CO" sz="20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Versión, partición, variables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s-CO" sz="20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y objetivo de predicción.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Element 14"/>
          <p:cNvSpPr/>
          <p:nvPr/>
        </p:nvSpPr>
        <p:spPr>
          <a:xfrm>
            <a:off x="4526280" y="2313360"/>
            <a:ext cx="401760" cy="36000"/>
          </a:xfrm>
          <a:prstGeom prst="rect">
            <a:avLst/>
          </a:prstGeom>
          <a:solidFill>
            <a:srgbClr val="147D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Element 15"/>
          <p:cNvSpPr/>
          <p:nvPr/>
        </p:nvSpPr>
        <p:spPr>
          <a:xfrm>
            <a:off x="4526280" y="2514600"/>
            <a:ext cx="3428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6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MISMA TAREA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Element 16"/>
          <p:cNvSpPr/>
          <p:nvPr/>
        </p:nvSpPr>
        <p:spPr>
          <a:xfrm>
            <a:off x="4526280" y="2944440"/>
            <a:ext cx="34282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es-CO" sz="20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Frecuencia y horizonte.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s-CO" sz="20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Ventana, escalado y faltantes.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Element 17"/>
          <p:cNvSpPr/>
          <p:nvPr/>
        </p:nvSpPr>
        <p:spPr>
          <a:xfrm>
            <a:off x="8275320" y="2313360"/>
            <a:ext cx="401760" cy="36000"/>
          </a:xfrm>
          <a:prstGeom prst="rect">
            <a:avLst/>
          </a:prstGeom>
          <a:solidFill>
            <a:srgbClr val="147D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Element 18"/>
          <p:cNvSpPr/>
          <p:nvPr/>
        </p:nvSpPr>
        <p:spPr>
          <a:xfrm>
            <a:off x="8275320" y="2514600"/>
            <a:ext cx="3428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6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MISMA MEDIDA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Element 19"/>
          <p:cNvSpPr/>
          <p:nvPr/>
        </p:nvSpPr>
        <p:spPr>
          <a:xfrm>
            <a:off x="8275320" y="2944440"/>
            <a:ext cx="34282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es-CO" sz="20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Métrica, espacio de salida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s-CO" sz="20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y funciones de fintness.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Element 20"/>
          <p:cNvSpPr/>
          <p:nvPr/>
        </p:nvSpPr>
        <p:spPr>
          <a:xfrm>
            <a:off x="777240" y="4005000"/>
            <a:ext cx="10652040" cy="12240"/>
          </a:xfrm>
          <a:prstGeom prst="rect">
            <a:avLst/>
          </a:prstGeom>
          <a:solidFill>
            <a:srgbClr val="DCE4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040" rIns="90000" bIns="-320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Element 21"/>
          <p:cNvSpPr/>
          <p:nvPr/>
        </p:nvSpPr>
        <p:spPr>
          <a:xfrm>
            <a:off x="777240" y="4270320"/>
            <a:ext cx="5074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200" b="1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Pronóstico [11], [12]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Element 22"/>
          <p:cNvSpPr/>
          <p:nvPr/>
        </p:nvSpPr>
        <p:spPr>
          <a:xfrm>
            <a:off x="777240" y="4718160"/>
            <a:ext cx="5028480" cy="83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es-CO" sz="19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MAE / MSE en la escala publicada.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s-CO" sz="19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Naïve ; skill = 1 − error / error naïve.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Element 23"/>
          <p:cNvSpPr/>
          <p:nvPr/>
        </p:nvSpPr>
        <p:spPr>
          <a:xfrm>
            <a:off x="6400800" y="4270320"/>
            <a:ext cx="5028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200" b="1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Trading y RL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Element 24"/>
          <p:cNvSpPr/>
          <p:nvPr/>
        </p:nvSpPr>
        <p:spPr>
          <a:xfrm>
            <a:off x="6400800" y="4718160"/>
            <a:ext cx="5028480" cy="83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es-CO" sz="19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Beneficio neto, Sharpe y caída máxima.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s-CO" sz="19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Iguales periodos, costes y ejecución.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Element 25"/>
          <p:cNvSpPr/>
          <p:nvPr/>
        </p:nvSpPr>
        <p:spPr>
          <a:xfrm>
            <a:off x="777240" y="5715000"/>
            <a:ext cx="10652040" cy="5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5000"/>
              </a:lnSpc>
            </a:pPr>
            <a:r>
              <a:rPr lang="es-CO" sz="165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Selección interna y prueba reservada [13]; semillas e incertidumbre temporal.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s-CO" sz="165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Si cambia el protocolo: reejecución emparejada, no comparación directa con la cifra publicada.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Element 2"/>
          <p:cNvSpPr/>
          <p:nvPr/>
        </p:nvSpPr>
        <p:spPr>
          <a:xfrm>
            <a:off x="-77040" y="0"/>
            <a:ext cx="1219284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Element 3"/>
          <p:cNvSpPr/>
          <p:nvPr/>
        </p:nvSpPr>
        <p:spPr>
          <a:xfrm>
            <a:off x="658440" y="292680"/>
            <a:ext cx="100576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0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CONTRIBUCIÓN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Element 4"/>
          <p:cNvSpPr/>
          <p:nvPr/>
        </p:nvSpPr>
        <p:spPr>
          <a:xfrm>
            <a:off x="631080" y="621720"/>
            <a:ext cx="1097208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900" b="1" u="none" strike="noStrike">
                <a:solidFill>
                  <a:srgbClr val="203344"/>
                </a:solidFill>
                <a:effectLst/>
                <a:uFillTx/>
                <a:latin typeface="Times New Roman"/>
                <a:ea typeface="DejaVu Sans"/>
              </a:rPr>
              <a:t>Resultado Esperado: Decisiones de Diseño</a:t>
            </a:r>
            <a:endParaRPr lang="en-US" sz="29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Element 5"/>
          <p:cNvSpPr/>
          <p:nvPr/>
        </p:nvSpPr>
        <p:spPr>
          <a:xfrm>
            <a:off x="631080" y="1307520"/>
            <a:ext cx="10926360" cy="10080"/>
          </a:xfrm>
          <a:prstGeom prst="rect">
            <a:avLst/>
          </a:prstGeom>
          <a:solidFill>
            <a:srgbClr val="DCE4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Element 6"/>
          <p:cNvSpPr/>
          <p:nvPr/>
        </p:nvSpPr>
        <p:spPr>
          <a:xfrm>
            <a:off x="631080" y="1307520"/>
            <a:ext cx="785520" cy="36000"/>
          </a:xfrm>
          <a:prstGeom prst="rect">
            <a:avLst/>
          </a:prstGeom>
          <a:solidFill>
            <a:srgbClr val="147D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Element 7"/>
          <p:cNvSpPr/>
          <p:nvPr/>
        </p:nvSpPr>
        <p:spPr>
          <a:xfrm>
            <a:off x="631080" y="6419160"/>
            <a:ext cx="10926360" cy="8280"/>
          </a:xfrm>
          <a:prstGeom prst="rect">
            <a:avLst/>
          </a:prstGeom>
          <a:solidFill>
            <a:srgbClr val="DCE4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Element 8"/>
          <p:cNvSpPr/>
          <p:nvPr/>
        </p:nvSpPr>
        <p:spPr>
          <a:xfrm>
            <a:off x="631080" y="6537960"/>
            <a:ext cx="9600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0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Harvey Demian Bastidas Caicedo  ·  Propuesta doctoral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Element 9"/>
          <p:cNvSpPr/>
          <p:nvPr/>
        </p:nvSpPr>
        <p:spPr>
          <a:xfrm>
            <a:off x="10972800" y="6537960"/>
            <a:ext cx="5479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1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Element 10"/>
          <p:cNvSpPr/>
          <p:nvPr/>
        </p:nvSpPr>
        <p:spPr>
          <a:xfrm>
            <a:off x="777240" y="1654920"/>
            <a:ext cx="1069776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4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Un procedimiento verificable para decidir qué </a:t>
            </a:r>
            <a:r>
              <a:rPr lang="es-CO" sz="24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transformar,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4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cómo agrupar y qué representación temporal </a:t>
            </a:r>
            <a:r>
              <a:rPr lang="es-CO" sz="24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diferenciada es recomendada.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Element 11"/>
          <p:cNvSpPr/>
          <p:nvPr/>
        </p:nvSpPr>
        <p:spPr>
          <a:xfrm>
            <a:off x="777240" y="2862000"/>
            <a:ext cx="32454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5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Método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Element 12"/>
          <p:cNvSpPr/>
          <p:nvPr/>
        </p:nvSpPr>
        <p:spPr>
          <a:xfrm>
            <a:off x="777240" y="3493080"/>
            <a:ext cx="3245400" cy="162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0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Perfiles medibles.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0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Configuraciones candidatas.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0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Selección temporal sin fuga.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Element 13"/>
          <p:cNvSpPr/>
          <p:nvPr/>
        </p:nvSpPr>
        <p:spPr>
          <a:xfrm>
            <a:off x="4526280" y="2862000"/>
            <a:ext cx="32454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5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Evidencia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Element 14"/>
          <p:cNvSpPr/>
          <p:nvPr/>
        </p:nvSpPr>
        <p:spPr>
          <a:xfrm>
            <a:off x="4526280" y="3493080"/>
            <a:ext cx="3245400" cy="162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0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Dominios y horizontes.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0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Controles.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0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Precisión y coste total.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Element 15"/>
          <p:cNvSpPr/>
          <p:nvPr/>
        </p:nvSpPr>
        <p:spPr>
          <a:xfrm>
            <a:off x="8275320" y="2862000"/>
            <a:ext cx="32454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5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Transferencia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Element 16"/>
          <p:cNvSpPr/>
          <p:nvPr/>
        </p:nvSpPr>
        <p:spPr>
          <a:xfrm>
            <a:off x="8275320" y="3493080"/>
            <a:ext cx="3245400" cy="162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0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Pronóstico y políticas RL.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0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Componentes abiertos.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000" b="0" u="none" strike="noStrike">
                <a:solidFill>
                  <a:srgbClr val="203344"/>
                </a:solidFill>
                <a:effectLst/>
                <a:uFillTx/>
                <a:latin typeface="Arial"/>
                <a:ea typeface="DejaVu Sans"/>
              </a:rPr>
              <a:t>Resultados reproducibles.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Element 17"/>
          <p:cNvSpPr/>
          <p:nvPr/>
        </p:nvSpPr>
        <p:spPr>
          <a:xfrm>
            <a:off x="777240" y="5102280"/>
            <a:ext cx="10652040" cy="10080"/>
          </a:xfrm>
          <a:prstGeom prst="rect">
            <a:avLst/>
          </a:prstGeom>
          <a:solidFill>
            <a:srgbClr val="DCE4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Element 18"/>
          <p:cNvSpPr/>
          <p:nvPr/>
        </p:nvSpPr>
        <p:spPr>
          <a:xfrm>
            <a:off x="777240" y="5413320"/>
            <a:ext cx="1065204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0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Extensión posterior: contrastar </a:t>
            </a:r>
            <a:r>
              <a:rPr lang="es-CO" sz="20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el </a:t>
            </a:r>
            <a:r>
              <a:rPr lang="es-CO" sz="2000" b="1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preentrenamiento</a:t>
            </a:r>
            <a:r>
              <a:rPr lang="es-CO" sz="20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 del núcleo </a:t>
            </a:r>
            <a:r>
              <a:rPr lang="es-CO" sz="20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temporal,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0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una vez evaluados el extractor y </a:t>
            </a:r>
            <a:r>
              <a:rPr lang="es-CO" sz="20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la fusión, en un bloque </a:t>
            </a:r>
            <a:r>
              <a:rPr lang="es-CO" sz="20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separado.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Element 2"/>
          <p:cNvSpPr/>
          <p:nvPr/>
        </p:nvSpPr>
        <p:spPr>
          <a:xfrm>
            <a:off x="0" y="0"/>
            <a:ext cx="1219284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Element 3"/>
          <p:cNvSpPr/>
          <p:nvPr/>
        </p:nvSpPr>
        <p:spPr>
          <a:xfrm>
            <a:off x="658440" y="292680"/>
            <a:ext cx="100576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0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BIBLIOGRAFÍA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Element 4"/>
          <p:cNvSpPr/>
          <p:nvPr/>
        </p:nvSpPr>
        <p:spPr>
          <a:xfrm>
            <a:off x="631080" y="621720"/>
            <a:ext cx="1097208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900" b="0" u="none" strike="noStrike">
                <a:solidFill>
                  <a:srgbClr val="203344"/>
                </a:solidFill>
                <a:effectLst/>
                <a:uFillTx/>
                <a:latin typeface="Times New Roman"/>
                <a:ea typeface="DejaVu Sans"/>
              </a:rPr>
              <a:t>Referencias (1/2)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Element 5"/>
          <p:cNvSpPr/>
          <p:nvPr/>
        </p:nvSpPr>
        <p:spPr>
          <a:xfrm>
            <a:off x="631080" y="1307520"/>
            <a:ext cx="10926360" cy="10080"/>
          </a:xfrm>
          <a:prstGeom prst="rect">
            <a:avLst/>
          </a:prstGeom>
          <a:solidFill>
            <a:srgbClr val="DCE4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Element 6"/>
          <p:cNvSpPr/>
          <p:nvPr/>
        </p:nvSpPr>
        <p:spPr>
          <a:xfrm>
            <a:off x="631080" y="1307520"/>
            <a:ext cx="785520" cy="36000"/>
          </a:xfrm>
          <a:prstGeom prst="rect">
            <a:avLst/>
          </a:prstGeom>
          <a:solidFill>
            <a:srgbClr val="147D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Element 7"/>
          <p:cNvSpPr/>
          <p:nvPr/>
        </p:nvSpPr>
        <p:spPr>
          <a:xfrm>
            <a:off x="631080" y="6419160"/>
            <a:ext cx="10926360" cy="8280"/>
          </a:xfrm>
          <a:prstGeom prst="rect">
            <a:avLst/>
          </a:prstGeom>
          <a:solidFill>
            <a:srgbClr val="DCE4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Element 8"/>
          <p:cNvSpPr/>
          <p:nvPr/>
        </p:nvSpPr>
        <p:spPr>
          <a:xfrm>
            <a:off x="631080" y="6537960"/>
            <a:ext cx="9600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0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Harvey Demian Bastidas Caicedo  ·  Propuesta doctoral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Element 9"/>
          <p:cNvSpPr/>
          <p:nvPr/>
        </p:nvSpPr>
        <p:spPr>
          <a:xfrm>
            <a:off x="10972800" y="6537960"/>
            <a:ext cx="5479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1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16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Reference 403"/>
          <p:cNvSpPr txBox="1"/>
          <p:nvPr/>
        </p:nvSpPr>
        <p:spPr>
          <a:xfrm>
            <a:off x="713232" y="1508760"/>
            <a:ext cx="438912" cy="274320"/>
          </a:xfrm>
          <a:noFill/>
        </p:spPr>
        <p:txBody>
          <a:bodyPr wrap="square" lIns="0" rIns="0" tIns="0" bIns="0"/>
          <a:lstStyle/>
          <a:p>
            <a:pPr>
              <a:lnSpc>
                <a:spcPts val="1680"/>
              </a:lnSpc>
            </a:pPr>
            <a:r>
              <a:rPr lang="es-CO" sz="1400" b="1">
                <a:solidFill>
                  <a:srgbClr val="147D78"/>
                </a:solidFill>
                <a:latin typeface="Arial"/>
              </a:rPr>
              <a:t>[1]</a:t>
            </a:r>
          </a:p>
        </p:txBody>
      </p:sp>
      <p:sp>
        <p:nvSpPr>
          <p:cNvPr id="404" name="Reference 404"/>
          <p:cNvSpPr txBox="1"/>
          <p:nvPr/>
        </p:nvSpPr>
        <p:spPr>
          <a:xfrm>
            <a:off x="1225296" y="1508760"/>
            <a:ext cx="10058400" cy="640080"/>
          </a:xfrm>
          <a:noFill/>
        </p:spPr>
        <p:txBody>
          <a:bodyPr wrap="square" lIns="0" rIns="0" tIns="0" bIns="0"/>
          <a:lstStyle/>
          <a:p>
            <a:pPr>
              <a:lnSpc>
                <a:spcPts val="1620"/>
              </a:lnSpc>
            </a:pPr>
            <a:r>
              <a:rPr lang="es-CO" sz="1350" b="0">
                <a:solidFill>
                  <a:srgbClr val="203344"/>
                </a:solidFill>
                <a:latin typeface="Arial"/>
              </a:rPr>
              <a:t>H. Bastidas, A. Caicedo y C. Sarmiento, "Predicción de la tasa de cambio EUR/USD: comparación de modelos de deep learning</a:t>
            </a:r>
          </a:p>
          <a:p>
            <a:pPr>
              <a:lnSpc>
                <a:spcPts val="1620"/>
              </a:lnSpc>
            </a:pPr>
            <a:r>
              <a:rPr lang="es-CO" sz="1350" b="0">
                <a:solidFill>
                  <a:srgbClr val="203344"/>
                </a:solidFill>
                <a:latin typeface="Arial"/>
              </a:rPr>
              <a:t>con diversos tipos y cantidades de datos de entrenamiento", proyecto aplicado de Maestría en Ciencia de Datos, Pontificia</a:t>
            </a:r>
          </a:p>
          <a:p>
            <a:pPr>
              <a:lnSpc>
                <a:spcPts val="1620"/>
              </a:lnSpc>
            </a:pPr>
            <a:r>
              <a:rPr lang="es-CO" sz="1350" b="0">
                <a:solidFill>
                  <a:srgbClr val="203344"/>
                </a:solidFill>
                <a:latin typeface="Arial"/>
              </a:rPr>
              <a:t>Universidad Javeriana, Cali, Colombia, jun. 2025, fig. 43.</a:t>
            </a:r>
          </a:p>
        </p:txBody>
      </p:sp>
      <p:sp>
        <p:nvSpPr>
          <p:cNvPr id="405" name="Reference 405"/>
          <p:cNvSpPr txBox="1"/>
          <p:nvPr/>
        </p:nvSpPr>
        <p:spPr>
          <a:xfrm>
            <a:off x="1225296" y="2148840"/>
            <a:ext cx="10058400" cy="172212"/>
          </a:xfrm>
          <a:noFill/>
        </p:spPr>
        <p:txBody>
          <a:bodyPr wrap="square" lIns="0" rIns="0" tIns="0" bIns="0"/>
          <a:lstStyle/>
          <a:p>
            <a:pPr>
              <a:lnSpc>
                <a:spcPts val="1140"/>
              </a:lnSpc>
            </a:pPr>
            <a:r>
              <a:rPr lang="es-CO" sz="950" b="0">
                <a:solidFill>
                  <a:srgbClr val="147D78"/>
                </a:solidFill>
                <a:latin typeface="Arial"/>
                <a:hlinkClick r:id="rIdRef1"/>
              </a:rPr>
              <a:t>[En línea]. Disponible: https://github.com/harveybc/predictor/blob/80a1513a/docs/tesis_maestria_ds/tesis_maestria_ciencia_datos_2025.docx</a:t>
            </a:r>
          </a:p>
        </p:txBody>
      </p:sp>
      <p:sp>
        <p:nvSpPr>
          <p:cNvPr id="406" name="Reference 406"/>
          <p:cNvSpPr txBox="1"/>
          <p:nvPr/>
        </p:nvSpPr>
        <p:spPr>
          <a:xfrm>
            <a:off x="713232" y="2366772"/>
            <a:ext cx="438912" cy="274320"/>
          </a:xfrm>
          <a:noFill/>
        </p:spPr>
        <p:txBody>
          <a:bodyPr wrap="square" lIns="0" rIns="0" tIns="0" bIns="0"/>
          <a:lstStyle/>
          <a:p>
            <a:pPr>
              <a:lnSpc>
                <a:spcPts val="1680"/>
              </a:lnSpc>
            </a:pPr>
            <a:r>
              <a:rPr lang="es-CO" sz="1400" b="1">
                <a:solidFill>
                  <a:srgbClr val="147D78"/>
                </a:solidFill>
                <a:latin typeface="Arial"/>
              </a:rPr>
              <a:t>[2]</a:t>
            </a:r>
          </a:p>
        </p:txBody>
      </p:sp>
      <p:sp>
        <p:nvSpPr>
          <p:cNvPr id="407" name="Reference 407"/>
          <p:cNvSpPr txBox="1"/>
          <p:nvPr/>
        </p:nvSpPr>
        <p:spPr>
          <a:xfrm>
            <a:off x="1225296" y="2366772"/>
            <a:ext cx="10058400" cy="434340"/>
          </a:xfrm>
          <a:noFill/>
        </p:spPr>
        <p:txBody>
          <a:bodyPr wrap="square" lIns="0" rIns="0" tIns="0" bIns="0"/>
          <a:lstStyle/>
          <a:p>
            <a:pPr>
              <a:lnSpc>
                <a:spcPts val="1620"/>
              </a:lnSpc>
            </a:pPr>
            <a:r>
              <a:rPr lang="es-CO" sz="1350" b="0">
                <a:solidFill>
                  <a:srgbClr val="203344"/>
                </a:solidFill>
                <a:latin typeface="Arial"/>
              </a:rPr>
              <a:t>H. Bastidas, "heuristic-strategy: fuentes del barrido de ruido de la presentación y resultados posteriores", código y datos, GitHub,</a:t>
            </a:r>
          </a:p>
          <a:p>
            <a:pPr>
              <a:lnSpc>
                <a:spcPts val="1620"/>
              </a:lnSpc>
            </a:pPr>
            <a:r>
              <a:rPr lang="es-CO" sz="1350" b="0">
                <a:solidFill>
                  <a:srgbClr val="203344"/>
                </a:solidFill>
                <a:latin typeface="Arial"/>
              </a:rPr>
              <a:t>rev. f2d3922, sep. 2026. Consultado: 27-sep-2026.</a:t>
            </a:r>
          </a:p>
        </p:txBody>
      </p:sp>
      <p:sp>
        <p:nvSpPr>
          <p:cNvPr id="408" name="Reference 408"/>
          <p:cNvSpPr txBox="1"/>
          <p:nvPr/>
        </p:nvSpPr>
        <p:spPr>
          <a:xfrm>
            <a:off x="1225296" y="2801112"/>
            <a:ext cx="10058400" cy="172212"/>
          </a:xfrm>
          <a:noFill/>
        </p:spPr>
        <p:txBody>
          <a:bodyPr wrap="square" lIns="0" rIns="0" tIns="0" bIns="0"/>
          <a:lstStyle/>
          <a:p>
            <a:pPr>
              <a:lnSpc>
                <a:spcPts val="1140"/>
              </a:lnSpc>
            </a:pPr>
            <a:r>
              <a:rPr lang="es-CO" sz="950" b="0">
                <a:solidFill>
                  <a:srgbClr val="147D78"/>
                </a:solidFill>
                <a:latin typeface="Arial"/>
                <a:hlinkClick r:id="rIdRef2"/>
              </a:rPr>
              <a:t>[En línea]. Disponible: https://github.com/harveybc/heuristic-strategy/tree/f2d3922/docs/presentation_noise_20260927</a:t>
            </a:r>
          </a:p>
        </p:txBody>
      </p:sp>
      <p:sp>
        <p:nvSpPr>
          <p:cNvPr id="409" name="Reference 409"/>
          <p:cNvSpPr txBox="1"/>
          <p:nvPr/>
        </p:nvSpPr>
        <p:spPr>
          <a:xfrm>
            <a:off x="713232" y="3019044"/>
            <a:ext cx="438912" cy="274320"/>
          </a:xfrm>
          <a:noFill/>
        </p:spPr>
        <p:txBody>
          <a:bodyPr wrap="square" lIns="0" rIns="0" tIns="0" bIns="0"/>
          <a:lstStyle/>
          <a:p>
            <a:pPr>
              <a:lnSpc>
                <a:spcPts val="1680"/>
              </a:lnSpc>
            </a:pPr>
            <a:r>
              <a:rPr lang="es-CO" sz="1400" b="1">
                <a:solidFill>
                  <a:srgbClr val="147D78"/>
                </a:solidFill>
                <a:latin typeface="Arial"/>
              </a:rPr>
              <a:t>[3]</a:t>
            </a:r>
          </a:p>
        </p:txBody>
      </p:sp>
      <p:sp>
        <p:nvSpPr>
          <p:cNvPr id="410" name="Reference 410"/>
          <p:cNvSpPr txBox="1"/>
          <p:nvPr/>
        </p:nvSpPr>
        <p:spPr>
          <a:xfrm>
            <a:off x="1225296" y="3019044"/>
            <a:ext cx="10058400" cy="434340"/>
          </a:xfrm>
          <a:noFill/>
        </p:spPr>
        <p:txBody>
          <a:bodyPr wrap="square" lIns="0" rIns="0" tIns="0" bIns="0"/>
          <a:lstStyle/>
          <a:p>
            <a:pPr>
              <a:lnSpc>
                <a:spcPts val="1620"/>
              </a:lnSpc>
            </a:pPr>
            <a:r>
              <a:rPr lang="es-CO" sz="1350" b="0">
                <a:solidFill>
                  <a:srgbClr val="203344"/>
                </a:solidFill>
                <a:latin typeface="Arial"/>
              </a:rPr>
              <a:t>R. J. Hyndman y G. Athanasopoulos, Forecasting: Principles and Practice, 3.ª ed. Melbourne, Australia: OTexts, 2021, caps. 4 y 9.</a:t>
            </a:r>
          </a:p>
          <a:p>
            <a:pPr>
              <a:lnSpc>
                <a:spcPts val="1620"/>
              </a:lnSpc>
            </a:pPr>
            <a:r>
              <a:rPr lang="es-CO" sz="1350" b="0">
                <a:solidFill>
                  <a:srgbClr val="203344"/>
                </a:solidFill>
                <a:latin typeface="Arial"/>
              </a:rPr>
              <a:t>Consultado: 27-sep-2026.</a:t>
            </a:r>
          </a:p>
        </p:txBody>
      </p:sp>
      <p:sp>
        <p:nvSpPr>
          <p:cNvPr id="411" name="Reference 411"/>
          <p:cNvSpPr txBox="1"/>
          <p:nvPr/>
        </p:nvSpPr>
        <p:spPr>
          <a:xfrm>
            <a:off x="1225296" y="3453384"/>
            <a:ext cx="10058400" cy="172212"/>
          </a:xfrm>
          <a:noFill/>
        </p:spPr>
        <p:txBody>
          <a:bodyPr wrap="square" lIns="0" rIns="0" tIns="0" bIns="0"/>
          <a:lstStyle/>
          <a:p>
            <a:pPr>
              <a:lnSpc>
                <a:spcPts val="1140"/>
              </a:lnSpc>
            </a:pPr>
            <a:r>
              <a:rPr lang="es-CO" sz="950" b="0">
                <a:solidFill>
                  <a:srgbClr val="147D78"/>
                </a:solidFill>
                <a:latin typeface="Arial"/>
                <a:hlinkClick r:id="rIdRef3"/>
              </a:rPr>
              <a:t>[En línea]. Disponible: https://otexts.com/fpp3/</a:t>
            </a:r>
          </a:p>
        </p:txBody>
      </p:sp>
      <p:sp>
        <p:nvSpPr>
          <p:cNvPr id="412" name="Reference 412"/>
          <p:cNvSpPr txBox="1"/>
          <p:nvPr/>
        </p:nvSpPr>
        <p:spPr>
          <a:xfrm>
            <a:off x="713232" y="3671316"/>
            <a:ext cx="438912" cy="274320"/>
          </a:xfrm>
          <a:noFill/>
        </p:spPr>
        <p:txBody>
          <a:bodyPr wrap="square" lIns="0" rIns="0" tIns="0" bIns="0"/>
          <a:lstStyle/>
          <a:p>
            <a:pPr>
              <a:lnSpc>
                <a:spcPts val="1680"/>
              </a:lnSpc>
            </a:pPr>
            <a:r>
              <a:rPr lang="es-CO" sz="1400" b="1">
                <a:solidFill>
                  <a:srgbClr val="147D78"/>
                </a:solidFill>
                <a:latin typeface="Arial"/>
              </a:rPr>
              <a:t>[4]</a:t>
            </a:r>
          </a:p>
        </p:txBody>
      </p:sp>
      <p:sp>
        <p:nvSpPr>
          <p:cNvPr id="413" name="Reference 413"/>
          <p:cNvSpPr txBox="1"/>
          <p:nvPr/>
        </p:nvSpPr>
        <p:spPr>
          <a:xfrm>
            <a:off x="1225296" y="3671316"/>
            <a:ext cx="10058400" cy="434340"/>
          </a:xfrm>
          <a:noFill/>
        </p:spPr>
        <p:txBody>
          <a:bodyPr wrap="square" lIns="0" rIns="0" tIns="0" bIns="0"/>
          <a:lstStyle/>
          <a:p>
            <a:pPr>
              <a:lnSpc>
                <a:spcPts val="1620"/>
              </a:lnSpc>
            </a:pPr>
            <a:r>
              <a:rPr lang="es-CO" sz="1350" b="0">
                <a:solidFill>
                  <a:srgbClr val="203344"/>
                </a:solidFill>
                <a:latin typeface="Arial"/>
              </a:rPr>
              <a:t>Desarrolladores de statsmodels, "Stationarity and detrending (ADF/KPSS)", documentación de statsmodels. Consultado:</a:t>
            </a:r>
          </a:p>
          <a:p>
            <a:pPr>
              <a:lnSpc>
                <a:spcPts val="1620"/>
              </a:lnSpc>
            </a:pPr>
            <a:r>
              <a:rPr lang="es-CO" sz="1350" b="0">
                <a:solidFill>
                  <a:srgbClr val="203344"/>
                </a:solidFill>
                <a:latin typeface="Arial"/>
              </a:rPr>
              <a:t>27-sep-2026.</a:t>
            </a:r>
          </a:p>
        </p:txBody>
      </p:sp>
      <p:sp>
        <p:nvSpPr>
          <p:cNvPr id="414" name="Reference 414"/>
          <p:cNvSpPr txBox="1"/>
          <p:nvPr/>
        </p:nvSpPr>
        <p:spPr>
          <a:xfrm>
            <a:off x="1225296" y="4105656"/>
            <a:ext cx="10058400" cy="172212"/>
          </a:xfrm>
          <a:noFill/>
        </p:spPr>
        <p:txBody>
          <a:bodyPr wrap="square" lIns="0" rIns="0" tIns="0" bIns="0"/>
          <a:lstStyle/>
          <a:p>
            <a:pPr>
              <a:lnSpc>
                <a:spcPts val="1140"/>
              </a:lnSpc>
            </a:pPr>
            <a:r>
              <a:rPr lang="es-CO" sz="950" b="0">
                <a:solidFill>
                  <a:srgbClr val="147D78"/>
                </a:solidFill>
                <a:latin typeface="Arial"/>
                <a:hlinkClick r:id="rIdRef4"/>
              </a:rPr>
              <a:t>[En línea]. Disponible: https://www.statsmodels.org/stable/examples/notebooks/generated/stationarity_detrending_adf_kpss.html</a:t>
            </a:r>
          </a:p>
        </p:txBody>
      </p:sp>
      <p:sp>
        <p:nvSpPr>
          <p:cNvPr id="415" name="Reference 415"/>
          <p:cNvSpPr txBox="1"/>
          <p:nvPr/>
        </p:nvSpPr>
        <p:spPr>
          <a:xfrm>
            <a:off x="713232" y="4323588"/>
            <a:ext cx="438912" cy="274320"/>
          </a:xfrm>
          <a:noFill/>
        </p:spPr>
        <p:txBody>
          <a:bodyPr wrap="square" lIns="0" rIns="0" tIns="0" bIns="0"/>
          <a:lstStyle/>
          <a:p>
            <a:pPr>
              <a:lnSpc>
                <a:spcPts val="1680"/>
              </a:lnSpc>
            </a:pPr>
            <a:r>
              <a:rPr lang="es-CO" sz="1400" b="1">
                <a:solidFill>
                  <a:srgbClr val="147D78"/>
                </a:solidFill>
                <a:latin typeface="Arial"/>
              </a:rPr>
              <a:t>[5]</a:t>
            </a:r>
          </a:p>
        </p:txBody>
      </p:sp>
      <p:sp>
        <p:nvSpPr>
          <p:cNvPr id="416" name="Reference 416"/>
          <p:cNvSpPr txBox="1"/>
          <p:nvPr/>
        </p:nvSpPr>
        <p:spPr>
          <a:xfrm>
            <a:off x="1225296" y="4323588"/>
            <a:ext cx="10058400" cy="434340"/>
          </a:xfrm>
          <a:noFill/>
        </p:spPr>
        <p:txBody>
          <a:bodyPr wrap="square" lIns="0" rIns="0" tIns="0" bIns="0"/>
          <a:lstStyle/>
          <a:p>
            <a:pPr>
              <a:lnSpc>
                <a:spcPts val="1620"/>
              </a:lnSpc>
            </a:pPr>
            <a:r>
              <a:rPr lang="es-CO" sz="1350" b="0">
                <a:solidFill>
                  <a:srgbClr val="203344"/>
                </a:solidFill>
                <a:latin typeface="Arial"/>
              </a:rPr>
              <a:t>Comunidad SciPy, "Signal processing (scipy.signal)", documentación de SciPy: hilbert, correlate y coherence. Consultado:</a:t>
            </a:r>
          </a:p>
          <a:p>
            <a:pPr>
              <a:lnSpc>
                <a:spcPts val="1620"/>
              </a:lnSpc>
            </a:pPr>
            <a:r>
              <a:rPr lang="es-CO" sz="1350" b="0">
                <a:solidFill>
                  <a:srgbClr val="203344"/>
                </a:solidFill>
                <a:latin typeface="Arial"/>
              </a:rPr>
              <a:t>27-sep-2026.</a:t>
            </a:r>
          </a:p>
        </p:txBody>
      </p:sp>
      <p:sp>
        <p:nvSpPr>
          <p:cNvPr id="417" name="Reference 417"/>
          <p:cNvSpPr txBox="1"/>
          <p:nvPr/>
        </p:nvSpPr>
        <p:spPr>
          <a:xfrm>
            <a:off x="1225296" y="4757928"/>
            <a:ext cx="10058400" cy="172212"/>
          </a:xfrm>
          <a:noFill/>
        </p:spPr>
        <p:txBody>
          <a:bodyPr wrap="square" lIns="0" rIns="0" tIns="0" bIns="0"/>
          <a:lstStyle/>
          <a:p>
            <a:pPr>
              <a:lnSpc>
                <a:spcPts val="1140"/>
              </a:lnSpc>
            </a:pPr>
            <a:r>
              <a:rPr lang="es-CO" sz="950" b="0">
                <a:solidFill>
                  <a:srgbClr val="147D78"/>
                </a:solidFill>
                <a:latin typeface="Arial"/>
                <a:hlinkClick r:id="rIdRef5"/>
              </a:rPr>
              <a:t>[En línea]. Disponible: https://docs.scipy.org/doc/scipy/reference/signal.html</a:t>
            </a:r>
          </a:p>
        </p:txBody>
      </p:sp>
      <p:sp>
        <p:nvSpPr>
          <p:cNvPr id="418" name="Reference 418"/>
          <p:cNvSpPr txBox="1"/>
          <p:nvPr/>
        </p:nvSpPr>
        <p:spPr>
          <a:xfrm>
            <a:off x="713232" y="4975860"/>
            <a:ext cx="438912" cy="274320"/>
          </a:xfrm>
          <a:noFill/>
        </p:spPr>
        <p:txBody>
          <a:bodyPr wrap="square" lIns="0" rIns="0" tIns="0" bIns="0"/>
          <a:lstStyle/>
          <a:p>
            <a:pPr>
              <a:lnSpc>
                <a:spcPts val="1680"/>
              </a:lnSpc>
            </a:pPr>
            <a:r>
              <a:rPr lang="es-CO" sz="1400" b="1">
                <a:solidFill>
                  <a:srgbClr val="147D78"/>
                </a:solidFill>
                <a:latin typeface="Arial"/>
              </a:rPr>
              <a:t>[6]</a:t>
            </a:r>
          </a:p>
        </p:txBody>
      </p:sp>
      <p:sp>
        <p:nvSpPr>
          <p:cNvPr id="419" name="Reference 419"/>
          <p:cNvSpPr txBox="1"/>
          <p:nvPr/>
        </p:nvSpPr>
        <p:spPr>
          <a:xfrm>
            <a:off x="1225296" y="4975860"/>
            <a:ext cx="10058400" cy="434340"/>
          </a:xfrm>
          <a:noFill/>
        </p:spPr>
        <p:txBody>
          <a:bodyPr wrap="square" lIns="0" rIns="0" tIns="0" bIns="0"/>
          <a:lstStyle/>
          <a:p>
            <a:pPr>
              <a:lnSpc>
                <a:spcPts val="1620"/>
              </a:lnSpc>
            </a:pPr>
            <a:r>
              <a:rPr lang="es-CO" sz="1350" b="0">
                <a:solidFill>
                  <a:srgbClr val="203344"/>
                </a:solidFill>
                <a:latin typeface="Arial"/>
              </a:rPr>
              <a:t>C. H. Lubba, S. S. Sethi, P. Knaute, S. R. Schultz, B. D. Fulcher y N. S. Jones, "catch22: CAnonical Time-series CHaracteristics",</a:t>
            </a:r>
          </a:p>
          <a:p>
            <a:pPr>
              <a:lnSpc>
                <a:spcPts val="1620"/>
              </a:lnSpc>
            </a:pPr>
            <a:r>
              <a:rPr lang="es-CO" sz="1350" b="0">
                <a:solidFill>
                  <a:srgbClr val="203344"/>
                </a:solidFill>
                <a:latin typeface="Arial"/>
              </a:rPr>
              <a:t>Data Min. Knowl. Discov., vol. 33, pp. 1821–1852, 2019.</a:t>
            </a:r>
          </a:p>
        </p:txBody>
      </p:sp>
      <p:sp>
        <p:nvSpPr>
          <p:cNvPr id="420" name="Reference 420"/>
          <p:cNvSpPr txBox="1"/>
          <p:nvPr/>
        </p:nvSpPr>
        <p:spPr>
          <a:xfrm>
            <a:off x="1225296" y="5410200"/>
            <a:ext cx="10058400" cy="172212"/>
          </a:xfrm>
          <a:noFill/>
        </p:spPr>
        <p:txBody>
          <a:bodyPr wrap="square" lIns="0" rIns="0" tIns="0" bIns="0"/>
          <a:lstStyle/>
          <a:p>
            <a:pPr>
              <a:lnSpc>
                <a:spcPts val="1140"/>
              </a:lnSpc>
            </a:pPr>
            <a:r>
              <a:rPr lang="es-CO" sz="950" b="0">
                <a:solidFill>
                  <a:srgbClr val="147D78"/>
                </a:solidFill>
                <a:latin typeface="Arial"/>
                <a:hlinkClick r:id="rIdRef6"/>
              </a:rPr>
              <a:t>doi: 10.1007/s10618-019-00647-x</a:t>
            </a:r>
          </a:p>
        </p:txBody>
      </p:sp>
      <p:sp>
        <p:nvSpPr>
          <p:cNvPr id="421" name="Reference 421"/>
          <p:cNvSpPr txBox="1"/>
          <p:nvPr/>
        </p:nvSpPr>
        <p:spPr>
          <a:xfrm>
            <a:off x="713232" y="5628132"/>
            <a:ext cx="438912" cy="274320"/>
          </a:xfrm>
          <a:noFill/>
        </p:spPr>
        <p:txBody>
          <a:bodyPr wrap="square" lIns="0" rIns="0" tIns="0" bIns="0"/>
          <a:lstStyle/>
          <a:p>
            <a:pPr>
              <a:lnSpc>
                <a:spcPts val="1680"/>
              </a:lnSpc>
            </a:pPr>
            <a:r>
              <a:rPr lang="es-CO" sz="1400" b="1">
                <a:solidFill>
                  <a:srgbClr val="147D78"/>
                </a:solidFill>
                <a:latin typeface="Arial"/>
              </a:rPr>
              <a:t>[7]</a:t>
            </a:r>
          </a:p>
        </p:txBody>
      </p:sp>
      <p:sp>
        <p:nvSpPr>
          <p:cNvPr id="422" name="Reference 422"/>
          <p:cNvSpPr txBox="1"/>
          <p:nvPr/>
        </p:nvSpPr>
        <p:spPr>
          <a:xfrm>
            <a:off x="1225296" y="5628132"/>
            <a:ext cx="10058400" cy="434340"/>
          </a:xfrm>
          <a:noFill/>
        </p:spPr>
        <p:txBody>
          <a:bodyPr wrap="square" lIns="0" rIns="0" tIns="0" bIns="0"/>
          <a:lstStyle/>
          <a:p>
            <a:pPr>
              <a:lnSpc>
                <a:spcPts val="1620"/>
              </a:lnSpc>
            </a:pPr>
            <a:r>
              <a:rPr lang="es-CO" sz="1350" b="0">
                <a:solidFill>
                  <a:srgbClr val="203344"/>
                </a:solidFill>
                <a:latin typeface="Arial"/>
              </a:rPr>
              <a:t>P. Montero-Manso, G. Athanasopoulos, R. J. Hyndman y T. S. Talagala, "FFORMA: Feature-based forecast model averaging", Int.</a:t>
            </a:r>
          </a:p>
          <a:p>
            <a:pPr>
              <a:lnSpc>
                <a:spcPts val="1620"/>
              </a:lnSpc>
            </a:pPr>
            <a:r>
              <a:rPr lang="es-CO" sz="1350" b="0">
                <a:solidFill>
                  <a:srgbClr val="203344"/>
                </a:solidFill>
                <a:latin typeface="Arial"/>
              </a:rPr>
              <a:t>J. Forecast., vol. 36, n.º 1, pp. 86–92, 2020.</a:t>
            </a:r>
          </a:p>
        </p:txBody>
      </p:sp>
      <p:sp>
        <p:nvSpPr>
          <p:cNvPr id="423" name="Reference 423"/>
          <p:cNvSpPr txBox="1"/>
          <p:nvPr/>
        </p:nvSpPr>
        <p:spPr>
          <a:xfrm>
            <a:off x="1225296" y="6062472"/>
            <a:ext cx="10058400" cy="172212"/>
          </a:xfrm>
          <a:noFill/>
        </p:spPr>
        <p:txBody>
          <a:bodyPr wrap="square" lIns="0" rIns="0" tIns="0" bIns="0"/>
          <a:lstStyle/>
          <a:p>
            <a:pPr>
              <a:lnSpc>
                <a:spcPts val="1140"/>
              </a:lnSpc>
            </a:pPr>
            <a:r>
              <a:rPr lang="es-CO" sz="950" b="0">
                <a:solidFill>
                  <a:srgbClr val="147D78"/>
                </a:solidFill>
                <a:latin typeface="Arial"/>
                <a:hlinkClick r:id="rIdRef7"/>
              </a:rPr>
              <a:t>doi: 10.1016/j.ijforecast.2019.02.011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Element 2"/>
          <p:cNvSpPr/>
          <p:nvPr/>
        </p:nvSpPr>
        <p:spPr>
          <a:xfrm>
            <a:off x="0" y="0"/>
            <a:ext cx="1219284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Element 3"/>
          <p:cNvSpPr/>
          <p:nvPr/>
        </p:nvSpPr>
        <p:spPr>
          <a:xfrm>
            <a:off x="658440" y="292680"/>
            <a:ext cx="100576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000" b="1" u="none" strike="noStrike">
                <a:solidFill>
                  <a:srgbClr val="147D78"/>
                </a:solidFill>
                <a:effectLst/>
                <a:uFillTx/>
                <a:latin typeface="Arial"/>
                <a:ea typeface="DejaVu Sans"/>
              </a:rPr>
              <a:t>BIBLIOGRAFÍA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Element 4"/>
          <p:cNvSpPr/>
          <p:nvPr/>
        </p:nvSpPr>
        <p:spPr>
          <a:xfrm>
            <a:off x="631080" y="621720"/>
            <a:ext cx="1097208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2900" b="0" u="none" strike="noStrike">
                <a:solidFill>
                  <a:srgbClr val="203344"/>
                </a:solidFill>
                <a:effectLst/>
                <a:uFillTx/>
                <a:latin typeface="Times New Roman"/>
                <a:ea typeface="DejaVu Sans"/>
              </a:rPr>
              <a:t>Referencias (2/2)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Element 5"/>
          <p:cNvSpPr/>
          <p:nvPr/>
        </p:nvSpPr>
        <p:spPr>
          <a:xfrm>
            <a:off x="631080" y="1307520"/>
            <a:ext cx="10926360" cy="10080"/>
          </a:xfrm>
          <a:prstGeom prst="rect">
            <a:avLst/>
          </a:prstGeom>
          <a:solidFill>
            <a:srgbClr val="DCE4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4200" rIns="90000" bIns="-342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Element 6"/>
          <p:cNvSpPr/>
          <p:nvPr/>
        </p:nvSpPr>
        <p:spPr>
          <a:xfrm>
            <a:off x="631080" y="1307520"/>
            <a:ext cx="785520" cy="36000"/>
          </a:xfrm>
          <a:prstGeom prst="rect">
            <a:avLst/>
          </a:prstGeom>
          <a:solidFill>
            <a:srgbClr val="147D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Element 7"/>
          <p:cNvSpPr/>
          <p:nvPr/>
        </p:nvSpPr>
        <p:spPr>
          <a:xfrm>
            <a:off x="631080" y="6419160"/>
            <a:ext cx="10926360" cy="8280"/>
          </a:xfrm>
          <a:prstGeom prst="rect">
            <a:avLst/>
          </a:prstGeom>
          <a:solidFill>
            <a:srgbClr val="DCE4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6000" rIns="90000" bIns="-36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Element 8"/>
          <p:cNvSpPr/>
          <p:nvPr/>
        </p:nvSpPr>
        <p:spPr>
          <a:xfrm>
            <a:off x="631080" y="6537960"/>
            <a:ext cx="9600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0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Harvey Demian Bastidas Caicedo  ·  Propuesta doctoral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Element 9"/>
          <p:cNvSpPr/>
          <p:nvPr/>
        </p:nvSpPr>
        <p:spPr>
          <a:xfrm>
            <a:off x="10972800" y="6537960"/>
            <a:ext cx="5479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  <a:spcAft>
                <a:spcPts val="499"/>
              </a:spcAft>
            </a:pPr>
            <a:r>
              <a:rPr lang="es-CO" sz="1100" b="0" u="none" strike="noStrike">
                <a:solidFill>
                  <a:srgbClr val="526372"/>
                </a:solidFill>
                <a:effectLst/>
                <a:uFillTx/>
                <a:latin typeface="Arial"/>
                <a:ea typeface="DejaVu Sans"/>
              </a:rPr>
              <a:t>17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Reference 424"/>
          <p:cNvSpPr txBox="1"/>
          <p:nvPr/>
        </p:nvSpPr>
        <p:spPr>
          <a:xfrm>
            <a:off x="713232" y="1508760"/>
            <a:ext cx="438912" cy="274320"/>
          </a:xfrm>
          <a:noFill/>
        </p:spPr>
        <p:txBody>
          <a:bodyPr wrap="square" lIns="0" rIns="0" tIns="0" bIns="0"/>
          <a:lstStyle/>
          <a:p>
            <a:pPr>
              <a:lnSpc>
                <a:spcPts val="1680"/>
              </a:lnSpc>
            </a:pPr>
            <a:r>
              <a:rPr lang="es-CO" sz="1400" b="1">
                <a:solidFill>
                  <a:srgbClr val="147D78"/>
                </a:solidFill>
                <a:latin typeface="Arial"/>
              </a:rPr>
              <a:t>[8]</a:t>
            </a:r>
          </a:p>
        </p:txBody>
      </p:sp>
      <p:sp>
        <p:nvSpPr>
          <p:cNvPr id="425" name="Reference 425"/>
          <p:cNvSpPr txBox="1"/>
          <p:nvPr/>
        </p:nvSpPr>
        <p:spPr>
          <a:xfrm>
            <a:off x="1225296" y="1508760"/>
            <a:ext cx="10058400" cy="434340"/>
          </a:xfrm>
          <a:noFill/>
        </p:spPr>
        <p:txBody>
          <a:bodyPr wrap="square" lIns="0" rIns="0" tIns="0" bIns="0"/>
          <a:lstStyle/>
          <a:p>
            <a:pPr>
              <a:lnSpc>
                <a:spcPts val="1620"/>
              </a:lnSpc>
            </a:pPr>
            <a:r>
              <a:rPr lang="es-CO" sz="1350" b="0">
                <a:solidFill>
                  <a:srgbClr val="203344"/>
                </a:solidFill>
                <a:latin typeface="Arial"/>
              </a:rPr>
              <a:t>S. Bai, J. Z. Kolter y V. Koltun, "An Empirical Evaluation of Generic Convolutional and Recurrent Networks for Sequence Modeling",</a:t>
            </a:r>
          </a:p>
          <a:p>
            <a:pPr>
              <a:lnSpc>
                <a:spcPts val="1620"/>
              </a:lnSpc>
            </a:pPr>
            <a:r>
              <a:rPr lang="es-CO" sz="1350" b="0">
                <a:solidFill>
                  <a:srgbClr val="203344"/>
                </a:solidFill>
                <a:latin typeface="Arial"/>
              </a:rPr>
              <a:t>arXiv:1803.01271, 2018.</a:t>
            </a:r>
          </a:p>
        </p:txBody>
      </p:sp>
      <p:sp>
        <p:nvSpPr>
          <p:cNvPr id="426" name="Reference 426"/>
          <p:cNvSpPr txBox="1"/>
          <p:nvPr/>
        </p:nvSpPr>
        <p:spPr>
          <a:xfrm>
            <a:off x="1225296" y="1943100"/>
            <a:ext cx="10058400" cy="172212"/>
          </a:xfrm>
          <a:noFill/>
        </p:spPr>
        <p:txBody>
          <a:bodyPr wrap="square" lIns="0" rIns="0" tIns="0" bIns="0"/>
          <a:lstStyle/>
          <a:p>
            <a:pPr>
              <a:lnSpc>
                <a:spcPts val="1140"/>
              </a:lnSpc>
            </a:pPr>
            <a:r>
              <a:rPr lang="es-CO" sz="950" b="0">
                <a:solidFill>
                  <a:srgbClr val="147D78"/>
                </a:solidFill>
                <a:latin typeface="Arial"/>
                <a:hlinkClick r:id="rIdRef8"/>
              </a:rPr>
              <a:t>doi: 10.48550/arXiv.1803.01271</a:t>
            </a:r>
          </a:p>
        </p:txBody>
      </p:sp>
      <p:sp>
        <p:nvSpPr>
          <p:cNvPr id="427" name="Reference 427"/>
          <p:cNvSpPr txBox="1"/>
          <p:nvPr/>
        </p:nvSpPr>
        <p:spPr>
          <a:xfrm>
            <a:off x="713232" y="2161032"/>
            <a:ext cx="438912" cy="274320"/>
          </a:xfrm>
          <a:noFill/>
        </p:spPr>
        <p:txBody>
          <a:bodyPr wrap="square" lIns="0" rIns="0" tIns="0" bIns="0"/>
          <a:lstStyle/>
          <a:p>
            <a:pPr>
              <a:lnSpc>
                <a:spcPts val="1680"/>
              </a:lnSpc>
            </a:pPr>
            <a:r>
              <a:rPr lang="es-CO" sz="1400" b="1">
                <a:solidFill>
                  <a:srgbClr val="147D78"/>
                </a:solidFill>
                <a:latin typeface="Arial"/>
              </a:rPr>
              <a:t>[9]</a:t>
            </a:r>
          </a:p>
        </p:txBody>
      </p:sp>
      <p:sp>
        <p:nvSpPr>
          <p:cNvPr id="428" name="Reference 428"/>
          <p:cNvSpPr txBox="1"/>
          <p:nvPr/>
        </p:nvSpPr>
        <p:spPr>
          <a:xfrm>
            <a:off x="1225296" y="2161032"/>
            <a:ext cx="10058400" cy="434340"/>
          </a:xfrm>
          <a:noFill/>
        </p:spPr>
        <p:txBody>
          <a:bodyPr wrap="square" lIns="0" rIns="0" tIns="0" bIns="0"/>
          <a:lstStyle/>
          <a:p>
            <a:pPr>
              <a:lnSpc>
                <a:spcPts val="1620"/>
              </a:lnSpc>
            </a:pPr>
            <a:r>
              <a:rPr lang="es-CO" sz="1350" b="0">
                <a:solidFill>
                  <a:srgbClr val="203344"/>
                </a:solidFill>
                <a:latin typeface="Arial"/>
              </a:rPr>
              <a:t>A. Vaswani et al., "Attention Is All You Need", en Advances in Neural Information Processing Systems, vol. 30, pp. 5998–6008,</a:t>
            </a:r>
          </a:p>
          <a:p>
            <a:pPr>
              <a:lnSpc>
                <a:spcPts val="1620"/>
              </a:lnSpc>
            </a:pPr>
            <a:r>
              <a:rPr lang="es-CO" sz="1350" b="0">
                <a:solidFill>
                  <a:srgbClr val="203344"/>
                </a:solidFill>
                <a:latin typeface="Arial"/>
              </a:rPr>
              <a:t>2017.</a:t>
            </a:r>
          </a:p>
        </p:txBody>
      </p:sp>
      <p:sp>
        <p:nvSpPr>
          <p:cNvPr id="429" name="Reference 429"/>
          <p:cNvSpPr txBox="1"/>
          <p:nvPr/>
        </p:nvSpPr>
        <p:spPr>
          <a:xfrm>
            <a:off x="1225296" y="2595372"/>
            <a:ext cx="10058400" cy="172212"/>
          </a:xfrm>
          <a:noFill/>
        </p:spPr>
        <p:txBody>
          <a:bodyPr wrap="square" lIns="0" rIns="0" tIns="0" bIns="0"/>
          <a:lstStyle/>
          <a:p>
            <a:pPr>
              <a:lnSpc>
                <a:spcPts val="1140"/>
              </a:lnSpc>
            </a:pPr>
            <a:r>
              <a:rPr lang="es-CO" sz="950" b="0">
                <a:solidFill>
                  <a:srgbClr val="147D78"/>
                </a:solidFill>
                <a:latin typeface="Arial"/>
                <a:hlinkClick r:id="rIdRef9"/>
              </a:rPr>
              <a:t>[En línea]. Disponible: https://proceedings.neurips.cc/paper/7181-attention-is-all-you-need</a:t>
            </a:r>
          </a:p>
        </p:txBody>
      </p:sp>
      <p:sp>
        <p:nvSpPr>
          <p:cNvPr id="430" name="Reference 430"/>
          <p:cNvSpPr txBox="1"/>
          <p:nvPr/>
        </p:nvSpPr>
        <p:spPr>
          <a:xfrm>
            <a:off x="713232" y="2813304"/>
            <a:ext cx="438912" cy="274320"/>
          </a:xfrm>
          <a:noFill/>
        </p:spPr>
        <p:txBody>
          <a:bodyPr wrap="square" lIns="0" rIns="0" tIns="0" bIns="0"/>
          <a:lstStyle/>
          <a:p>
            <a:pPr>
              <a:lnSpc>
                <a:spcPts val="1680"/>
              </a:lnSpc>
            </a:pPr>
            <a:r>
              <a:rPr lang="es-CO" sz="1400" b="1">
                <a:solidFill>
                  <a:srgbClr val="147D78"/>
                </a:solidFill>
                <a:latin typeface="Arial"/>
              </a:rPr>
              <a:t>[10]</a:t>
            </a:r>
          </a:p>
        </p:txBody>
      </p:sp>
      <p:sp>
        <p:nvSpPr>
          <p:cNvPr id="431" name="Reference 431"/>
          <p:cNvSpPr txBox="1"/>
          <p:nvPr/>
        </p:nvSpPr>
        <p:spPr>
          <a:xfrm>
            <a:off x="1225296" y="2813304"/>
            <a:ext cx="10058400" cy="228600"/>
          </a:xfrm>
          <a:noFill/>
        </p:spPr>
        <p:txBody>
          <a:bodyPr wrap="square" lIns="0" rIns="0" tIns="0" bIns="0"/>
          <a:lstStyle/>
          <a:p>
            <a:pPr>
              <a:lnSpc>
                <a:spcPts val="1620"/>
              </a:lnSpc>
            </a:pPr>
            <a:r>
              <a:rPr lang="es-CO" sz="1350" b="0">
                <a:solidFill>
                  <a:srgbClr val="203344"/>
                </a:solidFill>
                <a:latin typeface="Arial"/>
              </a:rPr>
              <a:t>Z. Li, Z. Rao, L. Pan, P. Wang y Z. Xu, "Ti-MAE: Self-Supervised Masked Time Series Autoencoders", arXiv:2301.08871, 2023.</a:t>
            </a:r>
          </a:p>
        </p:txBody>
      </p:sp>
      <p:sp>
        <p:nvSpPr>
          <p:cNvPr id="432" name="Reference 432"/>
          <p:cNvSpPr txBox="1"/>
          <p:nvPr/>
        </p:nvSpPr>
        <p:spPr>
          <a:xfrm>
            <a:off x="1225296" y="3041904"/>
            <a:ext cx="10058400" cy="172212"/>
          </a:xfrm>
          <a:noFill/>
        </p:spPr>
        <p:txBody>
          <a:bodyPr wrap="square" lIns="0" rIns="0" tIns="0" bIns="0"/>
          <a:lstStyle/>
          <a:p>
            <a:pPr>
              <a:lnSpc>
                <a:spcPts val="1140"/>
              </a:lnSpc>
            </a:pPr>
            <a:r>
              <a:rPr lang="es-CO" sz="950" b="0">
                <a:solidFill>
                  <a:srgbClr val="147D78"/>
                </a:solidFill>
                <a:latin typeface="Arial"/>
                <a:hlinkClick r:id="rIdRef10"/>
              </a:rPr>
              <a:t>doi: 10.48550/arXiv.2301.08871</a:t>
            </a:r>
          </a:p>
        </p:txBody>
      </p:sp>
      <p:sp>
        <p:nvSpPr>
          <p:cNvPr id="433" name="Reference 433"/>
          <p:cNvSpPr txBox="1"/>
          <p:nvPr/>
        </p:nvSpPr>
        <p:spPr>
          <a:xfrm>
            <a:off x="713232" y="3259836"/>
            <a:ext cx="438912" cy="274320"/>
          </a:xfrm>
          <a:noFill/>
        </p:spPr>
        <p:txBody>
          <a:bodyPr wrap="square" lIns="0" rIns="0" tIns="0" bIns="0"/>
          <a:lstStyle/>
          <a:p>
            <a:pPr>
              <a:lnSpc>
                <a:spcPts val="1680"/>
              </a:lnSpc>
            </a:pPr>
            <a:r>
              <a:rPr lang="es-CO" sz="1400" b="1">
                <a:solidFill>
                  <a:srgbClr val="147D78"/>
                </a:solidFill>
                <a:latin typeface="Arial"/>
              </a:rPr>
              <a:t>[11]</a:t>
            </a:r>
          </a:p>
        </p:txBody>
      </p:sp>
      <p:sp>
        <p:nvSpPr>
          <p:cNvPr id="434" name="Reference 434"/>
          <p:cNvSpPr txBox="1"/>
          <p:nvPr/>
        </p:nvSpPr>
        <p:spPr>
          <a:xfrm>
            <a:off x="1225296" y="3259836"/>
            <a:ext cx="10058400" cy="434340"/>
          </a:xfrm>
          <a:noFill/>
        </p:spPr>
        <p:txBody>
          <a:bodyPr wrap="square" lIns="0" rIns="0" tIns="0" bIns="0"/>
          <a:lstStyle/>
          <a:p>
            <a:pPr>
              <a:lnSpc>
                <a:spcPts val="1620"/>
              </a:lnSpc>
            </a:pPr>
            <a:r>
              <a:rPr lang="es-CO" sz="1350" b="0">
                <a:solidFill>
                  <a:srgbClr val="203344"/>
                </a:solidFill>
                <a:latin typeface="Arial"/>
              </a:rPr>
              <a:t>Y. Nie, N. H. Nguyen, P. Sinthong y J. Kalagnanam, "A Time Series is Worth 64 Words: Long-term Forecasting with Transformers",</a:t>
            </a:r>
          </a:p>
          <a:p>
            <a:pPr>
              <a:lnSpc>
                <a:spcPts val="1620"/>
              </a:lnSpc>
            </a:pPr>
            <a:r>
              <a:rPr lang="es-CO" sz="1350" b="0">
                <a:solidFill>
                  <a:srgbClr val="203344"/>
                </a:solidFill>
                <a:latin typeface="Arial"/>
              </a:rPr>
              <a:t>en Proc. ICLR, 2023.</a:t>
            </a:r>
          </a:p>
        </p:txBody>
      </p:sp>
      <p:sp>
        <p:nvSpPr>
          <p:cNvPr id="435" name="Reference 435"/>
          <p:cNvSpPr txBox="1"/>
          <p:nvPr/>
        </p:nvSpPr>
        <p:spPr>
          <a:xfrm>
            <a:off x="1225296" y="3694176"/>
            <a:ext cx="10058400" cy="172212"/>
          </a:xfrm>
          <a:noFill/>
        </p:spPr>
        <p:txBody>
          <a:bodyPr wrap="square" lIns="0" rIns="0" tIns="0" bIns="0"/>
          <a:lstStyle/>
          <a:p>
            <a:pPr>
              <a:lnSpc>
                <a:spcPts val="1140"/>
              </a:lnSpc>
            </a:pPr>
            <a:r>
              <a:rPr lang="es-CO" sz="950" b="0">
                <a:solidFill>
                  <a:srgbClr val="147D78"/>
                </a:solidFill>
                <a:latin typeface="Arial"/>
                <a:hlinkClick r:id="rIdRef11"/>
              </a:rPr>
              <a:t>Prepublicación: doi: 10.48550/arXiv.2211.14730</a:t>
            </a:r>
          </a:p>
        </p:txBody>
      </p:sp>
      <p:sp>
        <p:nvSpPr>
          <p:cNvPr id="436" name="Reference 436"/>
          <p:cNvSpPr txBox="1"/>
          <p:nvPr/>
        </p:nvSpPr>
        <p:spPr>
          <a:xfrm>
            <a:off x="713232" y="3912108"/>
            <a:ext cx="438912" cy="274320"/>
          </a:xfrm>
          <a:noFill/>
        </p:spPr>
        <p:txBody>
          <a:bodyPr wrap="square" lIns="0" rIns="0" tIns="0" bIns="0"/>
          <a:lstStyle/>
          <a:p>
            <a:pPr>
              <a:lnSpc>
                <a:spcPts val="1680"/>
              </a:lnSpc>
            </a:pPr>
            <a:r>
              <a:rPr lang="es-CO" sz="1400" b="1">
                <a:solidFill>
                  <a:srgbClr val="147D78"/>
                </a:solidFill>
                <a:latin typeface="Arial"/>
              </a:rPr>
              <a:t>[12]</a:t>
            </a:r>
          </a:p>
        </p:txBody>
      </p:sp>
      <p:sp>
        <p:nvSpPr>
          <p:cNvPr id="437" name="Reference 437"/>
          <p:cNvSpPr txBox="1"/>
          <p:nvPr/>
        </p:nvSpPr>
        <p:spPr>
          <a:xfrm>
            <a:off x="1225296" y="3912108"/>
            <a:ext cx="10058400" cy="228600"/>
          </a:xfrm>
          <a:noFill/>
        </p:spPr>
        <p:txBody>
          <a:bodyPr wrap="square" lIns="0" rIns="0" tIns="0" bIns="0"/>
          <a:lstStyle/>
          <a:p>
            <a:pPr>
              <a:lnSpc>
                <a:spcPts val="1620"/>
              </a:lnSpc>
            </a:pPr>
            <a:r>
              <a:rPr lang="es-CO" sz="1350" b="0">
                <a:solidFill>
                  <a:srgbClr val="203344"/>
                </a:solidFill>
                <a:latin typeface="Arial"/>
              </a:rPr>
              <a:t>Y. Liu et al., "iTransformer: Inverted Transformers Are Effective for Time Series Forecasting", en Proc. ICLR, 2024.</a:t>
            </a:r>
          </a:p>
        </p:txBody>
      </p:sp>
      <p:sp>
        <p:nvSpPr>
          <p:cNvPr id="438" name="Reference 438"/>
          <p:cNvSpPr txBox="1"/>
          <p:nvPr/>
        </p:nvSpPr>
        <p:spPr>
          <a:xfrm>
            <a:off x="1225296" y="4140708"/>
            <a:ext cx="10058400" cy="172212"/>
          </a:xfrm>
          <a:noFill/>
        </p:spPr>
        <p:txBody>
          <a:bodyPr wrap="square" lIns="0" rIns="0" tIns="0" bIns="0"/>
          <a:lstStyle/>
          <a:p>
            <a:pPr>
              <a:lnSpc>
                <a:spcPts val="1140"/>
              </a:lnSpc>
            </a:pPr>
            <a:r>
              <a:rPr lang="es-CO" sz="950" b="0">
                <a:solidFill>
                  <a:srgbClr val="147D78"/>
                </a:solidFill>
                <a:latin typeface="Arial"/>
                <a:hlinkClick r:id="rIdRef12"/>
              </a:rPr>
              <a:t>Prepublicación: doi: 10.48550/arXiv.2310.06625</a:t>
            </a:r>
          </a:p>
        </p:txBody>
      </p:sp>
      <p:sp>
        <p:nvSpPr>
          <p:cNvPr id="439" name="Reference 439"/>
          <p:cNvSpPr txBox="1"/>
          <p:nvPr/>
        </p:nvSpPr>
        <p:spPr>
          <a:xfrm>
            <a:off x="713232" y="4358640"/>
            <a:ext cx="438912" cy="274320"/>
          </a:xfrm>
          <a:noFill/>
        </p:spPr>
        <p:txBody>
          <a:bodyPr wrap="square" lIns="0" rIns="0" tIns="0" bIns="0"/>
          <a:lstStyle/>
          <a:p>
            <a:pPr>
              <a:lnSpc>
                <a:spcPts val="1680"/>
              </a:lnSpc>
            </a:pPr>
            <a:r>
              <a:rPr lang="es-CO" sz="1400" b="1">
                <a:solidFill>
                  <a:srgbClr val="147D78"/>
                </a:solidFill>
                <a:latin typeface="Arial"/>
              </a:rPr>
              <a:t>[13]</a:t>
            </a:r>
          </a:p>
        </p:txBody>
      </p:sp>
      <p:sp>
        <p:nvSpPr>
          <p:cNvPr id="440" name="Reference 440"/>
          <p:cNvSpPr txBox="1"/>
          <p:nvPr/>
        </p:nvSpPr>
        <p:spPr>
          <a:xfrm>
            <a:off x="1225296" y="4358640"/>
            <a:ext cx="10058400" cy="434340"/>
          </a:xfrm>
          <a:noFill/>
        </p:spPr>
        <p:txBody>
          <a:bodyPr wrap="square" lIns="0" rIns="0" tIns="0" bIns="0"/>
          <a:lstStyle/>
          <a:p>
            <a:pPr>
              <a:lnSpc>
                <a:spcPts val="1620"/>
              </a:lnSpc>
            </a:pPr>
            <a:r>
              <a:rPr lang="es-CO" sz="1350" b="0">
                <a:solidFill>
                  <a:srgbClr val="203344"/>
                </a:solidFill>
                <a:latin typeface="Arial"/>
              </a:rPr>
              <a:t>G. C. Cawley y N. L. C. Talbot, "On Over-fitting in Model Selection and Subsequent Selection Bias in Performance Evaluation", J.</a:t>
            </a:r>
          </a:p>
          <a:p>
            <a:pPr>
              <a:lnSpc>
                <a:spcPts val="1620"/>
              </a:lnSpc>
            </a:pPr>
            <a:r>
              <a:rPr lang="es-CO" sz="1350" b="0">
                <a:solidFill>
                  <a:srgbClr val="203344"/>
                </a:solidFill>
                <a:latin typeface="Arial"/>
              </a:rPr>
              <a:t>Mach. Learn. Res., vol. 11, pp. 2079–2107, 2010.</a:t>
            </a:r>
          </a:p>
        </p:txBody>
      </p:sp>
      <p:sp>
        <p:nvSpPr>
          <p:cNvPr id="441" name="Reference 441"/>
          <p:cNvSpPr txBox="1"/>
          <p:nvPr/>
        </p:nvSpPr>
        <p:spPr>
          <a:xfrm>
            <a:off x="1225296" y="4792980"/>
            <a:ext cx="10058400" cy="172212"/>
          </a:xfrm>
          <a:noFill/>
        </p:spPr>
        <p:txBody>
          <a:bodyPr wrap="square" lIns="0" rIns="0" tIns="0" bIns="0"/>
          <a:lstStyle/>
          <a:p>
            <a:pPr>
              <a:lnSpc>
                <a:spcPts val="1140"/>
              </a:lnSpc>
            </a:pPr>
            <a:r>
              <a:rPr lang="es-CO" sz="950" b="0">
                <a:solidFill>
                  <a:srgbClr val="147D78"/>
                </a:solidFill>
                <a:latin typeface="Arial"/>
                <a:hlinkClick r:id="rIdRef13"/>
              </a:rPr>
              <a:t>[En línea]. Disponible: https://jmlr.org/papers/v11/cawley10a.html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2079</TotalTime>
  <Application>LibreOffice/26.2.5.2$Linux_X86_64 LibreOffice_project/6d2b0d33fb0f5da53a12f98bed3e9973e56ff1f0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2026-09-25T06:40:08Z</dcterms:created>
  <dc:creator>Harvey Demian Bastidas Caicedo</dc:creator>
  <dc:description/>
  <dc:language>en-US</dc:language>
  <cp:lastModifiedBy/>
  <dcterms:modified xsi:type="dcterms:W3CDTF">2026-09-27T21:27:45Z</dcterms:modified>
  <cp:revision>28</cp:revision>
  <dc:subject>Entrevista de admisión a un doctorado en inteligencia artificial</dc:subject>
  <dc:title>Diseño de representaciones temporales modulares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13</vt:r8>
  </property>
  <property fmtid="{D5CDD505-2E9C-101B-9397-08002B2CF9AE}" pid="3" name="PresentationFormat">
    <vt:lpwstr>On-screen Show (16:9)</vt:lpwstr>
  </property>
  <property fmtid="{D5CDD505-2E9C-101B-9397-08002B2CF9AE}" pid="4" name="Slides">
    <vt:r8>13</vt:r8>
  </property>
</Properties>
</file>
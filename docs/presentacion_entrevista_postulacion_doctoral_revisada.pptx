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3588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lnSpc>
                <a:spcPct val="11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k to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mo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ve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slid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4B3BA02-2C61-4FF0-9AA6-2FC496F5141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685800" y="4400280"/>
            <a:ext cx="548460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Diez minutos. No leer la portada. Entrar al contexto en una frase y pasar.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"/>
          <p:cNvSpPr/>
          <p:nvPr/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fld id="{0E6FCB65-0392-462D-9E28-3F1E67B2CF9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685800" y="4400280"/>
            <a:ext cx="548460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Llama 3.2 eligió lámina sin tarjetas: título y frases. Edad, estado civil, lugar, estabilidad, gusto por programar. La leche no es la pregunta.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"/>
          <p:cNvSpPr/>
          <p:nvPr/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fld id="{9C7631CE-7052-41AA-B46A-812AC8C9C48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685800" y="4400280"/>
            <a:ext cx="548460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Un minuto. Decir los tres títulos y cerrar: las dos maestrías quedan atrás. Si preguntan por blockchain: es el registro de la tesis de 2018, no el objeto de ahora.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"/>
          <p:cNvSpPr/>
          <p:nvPr/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fld id="{77248652-E95B-4B12-938E-17D53BEC0D8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685800" y="4400280"/>
            <a:ext cx="548460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Un minuto. Si piden repositorios: predictor, el extractor y agent-multi son el lugar donde la representación se integraría. No son la tesis.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"/>
          <p:cNvSpPr/>
          <p:nvPr/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fld id="{9EFD5BFB-50B1-4598-8015-1E6B7D56FEA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2520"/>
            <a:ext cx="10968120" cy="1139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13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13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10968120" cy="3971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marL="343080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None/>
              <a:tabLst>
                <a:tab pos="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•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43080" lvl="1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43080" lvl="2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•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43080" lvl="3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43080" lvl="4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43080" lvl="5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43080" lvl="6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708120"/>
            <a:ext cx="10966320" cy="26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13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13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marL="343080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None/>
              <a:tabLst>
                <a:tab pos="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marL="743040" indent="-285840" algn="l">
              <a:lnSpc>
                <a:spcPct val="113000"/>
              </a:lnSpc>
              <a:spcBef>
                <a:spcPts val="1151"/>
              </a:spcBef>
              <a:spcAft>
                <a:spcPts val="26"/>
              </a:spcAft>
              <a:buNone/>
              <a:tabLst>
                <a:tab pos="0" algn="l"/>
              </a:tabLst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13000"/>
              </a:lnSpc>
              <a:spcBef>
                <a:spcPts val="876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•"/>
              <a:tabLst>
                <a:tab pos="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</a:tabLst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13000"/>
              </a:lnSpc>
              <a:spcBef>
                <a:spcPts val="58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13000"/>
              </a:lnSpc>
              <a:spcBef>
                <a:spcPts val="300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Times New Roman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Times New Roman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743040" indent="-285840" algn="l">
              <a:lnSpc>
                <a:spcPct val="113000"/>
              </a:lnSpc>
              <a:spcBef>
                <a:spcPts val="1151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143000" lvl="2" indent="-228600" algn="l">
              <a:lnSpc>
                <a:spcPct val="113000"/>
              </a:lnSpc>
              <a:spcBef>
                <a:spcPts val="876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•"/>
              <a:tabLst>
                <a:tab pos="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600200" lvl="3" indent="-228600" algn="l">
              <a:lnSpc>
                <a:spcPct val="113000"/>
              </a:lnSpc>
              <a:spcBef>
                <a:spcPts val="58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057400" lvl="4" indent="-228600" algn="l">
              <a:lnSpc>
                <a:spcPct val="113000"/>
              </a:lnSpc>
              <a:spcBef>
                <a:spcPts val="300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057400" lvl="5" indent="-228600" algn="l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Times New Roman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057400" lvl="6" indent="-228600" algn="l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Times New Roman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hyperlink" Target="https://github.com/harveybc/predictor/blob/80a1513a/docs/tesis_maestria_ds/tesis_maestria_ciencia_datos_2025.docx" TargetMode="External"/><Relationship Id="rId2" Type="http://schemas.openxmlformats.org/officeDocument/2006/relationships/hyperlink" Target="https://github.com/harveybc/heuristic-strategy/tree/f2d3922/docs/presentation_noise_20260927" TargetMode="External"/><Relationship Id="rId3" Type="http://schemas.openxmlformats.org/officeDocument/2006/relationships/hyperlink" Target="https://otexts.com/fpp3/" TargetMode="External"/><Relationship Id="rId4" Type="http://schemas.openxmlformats.org/officeDocument/2006/relationships/hyperlink" Target="https://www.statsmodels.org/stable/examples/notebooks/generated/stationarity_detrending_adf_kpss.html" TargetMode="External"/><Relationship Id="rId5" Type="http://schemas.openxmlformats.org/officeDocument/2006/relationships/hyperlink" Target="https://docs.scipy.org/doc/scipy/reference/signal.html" TargetMode="External"/><Relationship Id="rId6" Type="http://schemas.openxmlformats.org/officeDocument/2006/relationships/hyperlink" Target="https://doi.org/10.1007/s10618-019-00647-x" TargetMode="External"/><Relationship Id="rId7" Type="http://schemas.openxmlformats.org/officeDocument/2006/relationships/hyperlink" Target="https://doi.org/10.1016/j.ijforecast.2019.02.011" TargetMode="External"/><Relationship Id="rId8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hyperlink" Target="https://arxiv.org/abs/1803.01271" TargetMode="External"/><Relationship Id="rId2" Type="http://schemas.openxmlformats.org/officeDocument/2006/relationships/hyperlink" Target="https://proceedings.neurips.cc/paper/7181-attention-is-all-you-need" TargetMode="External"/><Relationship Id="rId3" Type="http://schemas.openxmlformats.org/officeDocument/2006/relationships/hyperlink" Target="https://arxiv.org/abs/2301.08871" TargetMode="External"/><Relationship Id="rId4" Type="http://schemas.openxmlformats.org/officeDocument/2006/relationships/hyperlink" Target="https://arxiv.org/abs/2211.14730" TargetMode="External"/><Relationship Id="rId5" Type="http://schemas.openxmlformats.org/officeDocument/2006/relationships/hyperlink" Target="https://arxiv.org/abs/2310.06625" TargetMode="External"/><Relationship Id="rId6" Type="http://schemas.openxmlformats.org/officeDocument/2006/relationships/hyperlink" Target="https://jmlr.org/papers/v11/cawley10a.html" TargetMode="External"/><Relationship Id="rId7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B31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61640" cy="6856200"/>
          </a:xfrm>
          <a:prstGeom prst="rect">
            <a:avLst/>
          </a:prstGeom>
          <a:solidFill>
            <a:srgbClr val="B85C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81000" tIns="46800" rIns="81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777960" y="1692360"/>
            <a:ext cx="10056600" cy="16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40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Diseño de Representaciones Temporales </a:t>
            </a:r>
            <a:r>
              <a:rPr lang="en-US" sz="40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Modulares Basado en Datos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777960" y="4243320"/>
            <a:ext cx="914220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Harvey Demian Bastidas Caicedo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777960" y="4654440"/>
            <a:ext cx="91422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600" b="0" u="none" strike="noStrike">
                <a:solidFill>
                  <a:srgbClr val="C9D3DC"/>
                </a:solidFill>
                <a:effectLst/>
                <a:uFillTx/>
                <a:latin typeface="Calibri"/>
                <a:ea typeface="Calibri"/>
              </a:rPr>
              <a:t>Aspirante a  doctorado en inteligencia artificial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777960" y="3863880"/>
            <a:ext cx="10650240" cy="20520"/>
          </a:xfrm>
          <a:prstGeom prst="rect">
            <a:avLst/>
          </a:prstGeom>
          <a:solidFill>
            <a:srgbClr val="B85C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-24480" rIns="90000" bIns="-2448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>
            <a:off x="639720" y="347760"/>
            <a:ext cx="73134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639720" y="457200"/>
            <a:ext cx="10513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32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Contexto Personal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639720" y="6510240"/>
            <a:ext cx="731340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Harvey Demian Bastidas Caicedo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9509040" y="6510240"/>
            <a:ext cx="200952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2  /  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595440" y="1281240"/>
            <a:ext cx="10604160" cy="100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685800" y="3200400"/>
            <a:ext cx="102391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48 años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Soltero 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Interés por la programación y la IA (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algo-trading championship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/2007)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Viví en Cali 20 años, Bogotá 4 años, por estudios, trabajo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Desde hace 5 años vivo en Túquerres, Nariño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El negocio de producción de leche = situación económica 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estable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Tiempo disponible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 para el desarrollo open-source y/o para estudiar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Dispongo de los recursos y la motivación para el Doctorado en IA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639720" y="1130400"/>
            <a:ext cx="10878840" cy="10800"/>
          </a:xfrm>
          <a:prstGeom prst="rect">
            <a:avLst/>
          </a:prstGeom>
          <a:solidFill>
            <a:srgbClr val="C9D3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-34200" rIns="90000" bIns="-342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>
            <a:off x="639720" y="291960"/>
            <a:ext cx="1078704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Formación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639720" y="949320"/>
            <a:ext cx="10878840" cy="10800"/>
          </a:xfrm>
          <a:prstGeom prst="rect">
            <a:avLst/>
          </a:prstGeom>
          <a:solidFill>
            <a:srgbClr val="C9D3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-34200" rIns="90000" bIns="-342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639720" y="6510240"/>
            <a:ext cx="731340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Harvey Demian Bastidas Caicedo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9509040" y="6510240"/>
            <a:ext cx="200952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3  /  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639720" y="1587600"/>
            <a:ext cx="3517560" cy="4157280"/>
          </a:xfrm>
          <a:custGeom>
            <a:avLst/>
            <a:gdLst>
              <a:gd name="textAreaLeft" fmla="*/ 15840 w 3517560"/>
              <a:gd name="textAreaRight" fmla="*/ 3503520 w 3517560"/>
              <a:gd name="textAreaTop" fmla="*/ 15840 h 4157280"/>
              <a:gd name="textAreaBottom" fmla="*/ 4143240 h 4157280"/>
            </a:gdLst>
            <a:ahLst/>
            <a:cxnLst/>
            <a:rect l="textAreaLeft" t="textAreaTop" r="textAreaRight" b="textAreaBottom"/>
            <a:pathLst>
              <a:path w="21600" h="25526">
                <a:moveTo>
                  <a:pt x="336" y="0"/>
                </a:moveTo>
                <a:arcTo wR="336" hR="336" stAng="16200000" swAng="-5400000"/>
                <a:lnTo>
                  <a:pt x="0" y="25190"/>
                </a:lnTo>
                <a:arcTo wR="336" hR="336" stAng="10800000" swAng="-5400000"/>
                <a:lnTo>
                  <a:pt x="21264" y="25526"/>
                </a:lnTo>
                <a:arcTo wR="336" hR="336" stAng="5400000" swAng="-5400000"/>
                <a:lnTo>
                  <a:pt x="21600" y="336"/>
                </a:lnTo>
                <a:arcTo wR="336" hR="336" stAng="0" swAng="-5400000"/>
                <a:close/>
              </a:path>
            </a:pathLst>
          </a:custGeom>
          <a:solidFill>
            <a:srgbClr val="E4EEF2"/>
          </a:solidFill>
          <a:ln w="12600">
            <a:solidFill>
              <a:srgbClr val="C9D3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841320" y="1724040"/>
            <a:ext cx="31064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B85C38"/>
                </a:solidFill>
                <a:effectLst/>
                <a:uFillTx/>
                <a:latin typeface="Georgia"/>
                <a:ea typeface="Georgia"/>
              </a:rPr>
              <a:t>2011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841320" y="2181240"/>
            <a:ext cx="310644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Ingeniero electrónico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841320" y="3005280"/>
            <a:ext cx="31064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Universidad de San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Buenaventura Cali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841320" y="3736800"/>
            <a:ext cx="3106440" cy="173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Materias/temas: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Teoría de la Información,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Comunicaciones.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Tesis: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Control de tráfico y calidad de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servicio en una NPU. Director: Óscar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Casas García.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4389480" y="1587600"/>
            <a:ext cx="3517560" cy="4157280"/>
          </a:xfrm>
          <a:custGeom>
            <a:avLst/>
            <a:gdLst>
              <a:gd name="textAreaLeft" fmla="*/ 15840 w 3517560"/>
              <a:gd name="textAreaRight" fmla="*/ 3503520 w 3517560"/>
              <a:gd name="textAreaTop" fmla="*/ 15840 h 4157280"/>
              <a:gd name="textAreaBottom" fmla="*/ 4143240 h 4157280"/>
            </a:gdLst>
            <a:ahLst/>
            <a:cxnLst/>
            <a:rect l="textAreaLeft" t="textAreaTop" r="textAreaRight" b="textAreaBottom"/>
            <a:pathLst>
              <a:path w="21600" h="25526">
                <a:moveTo>
                  <a:pt x="336" y="0"/>
                </a:moveTo>
                <a:arcTo wR="336" hR="336" stAng="16200000" swAng="-5400000"/>
                <a:lnTo>
                  <a:pt x="0" y="25190"/>
                </a:lnTo>
                <a:arcTo wR="336" hR="336" stAng="10800000" swAng="-5400000"/>
                <a:lnTo>
                  <a:pt x="21264" y="25526"/>
                </a:lnTo>
                <a:arcTo wR="336" hR="336" stAng="5400000" swAng="-5400000"/>
                <a:lnTo>
                  <a:pt x="21600" y="336"/>
                </a:lnTo>
                <a:arcTo wR="336" hR="336" stAng="0" swAng="-5400000"/>
                <a:close/>
              </a:path>
            </a:pathLst>
          </a:custGeom>
          <a:solidFill>
            <a:srgbClr val="FFFFFF"/>
          </a:solidFill>
          <a:ln w="12600">
            <a:solidFill>
              <a:srgbClr val="1B314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4591080" y="1724040"/>
            <a:ext cx="31064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B85C38"/>
                </a:solidFill>
                <a:effectLst/>
                <a:uFillTx/>
                <a:latin typeface="Georgia"/>
                <a:ea typeface="Georgia"/>
              </a:rPr>
              <a:t>2018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4591080" y="2181240"/>
            <a:ext cx="310644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Magíster en Ingeniería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4591080" y="3005280"/>
            <a:ext cx="31064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Pontificia Universidad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Javeriana, Cali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4591080" y="3736800"/>
            <a:ext cx="3106440" cy="173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Materias/temas: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Teoría de Juegos, Reconocimiento de Patrones, Calidad de Software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Tesis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Optimización evolutiva (NEAT) descentralizada, con blockchain . Directora: María Constanza Pabón.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8139240" y="1587600"/>
            <a:ext cx="3517560" cy="4157280"/>
          </a:xfrm>
          <a:custGeom>
            <a:avLst/>
            <a:gdLst>
              <a:gd name="textAreaLeft" fmla="*/ 15840 w 3517560"/>
              <a:gd name="textAreaRight" fmla="*/ 3503520 w 3517560"/>
              <a:gd name="textAreaTop" fmla="*/ 15840 h 4157280"/>
              <a:gd name="textAreaBottom" fmla="*/ 4143240 h 4157280"/>
            </a:gdLst>
            <a:ahLst/>
            <a:cxnLst/>
            <a:rect l="textAreaLeft" t="textAreaTop" r="textAreaRight" b="textAreaBottom"/>
            <a:pathLst>
              <a:path w="21600" h="25526">
                <a:moveTo>
                  <a:pt x="336" y="0"/>
                </a:moveTo>
                <a:arcTo wR="336" hR="336" stAng="16200000" swAng="-5400000"/>
                <a:lnTo>
                  <a:pt x="0" y="25190"/>
                </a:lnTo>
                <a:arcTo wR="336" hR="336" stAng="10800000" swAng="-5400000"/>
                <a:lnTo>
                  <a:pt x="21264" y="25526"/>
                </a:lnTo>
                <a:arcTo wR="336" hR="336" stAng="5400000" swAng="-5400000"/>
                <a:lnTo>
                  <a:pt x="21600" y="336"/>
                </a:lnTo>
                <a:arcTo wR="336" hR="336" stAng="0" swAng="-5400000"/>
                <a:close/>
              </a:path>
            </a:pathLst>
          </a:custGeom>
          <a:solidFill>
            <a:srgbClr val="F6E4D4"/>
          </a:solidFill>
          <a:ln w="12600">
            <a:solidFill>
              <a:srgbClr val="C9D3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8339040" y="1724040"/>
            <a:ext cx="310680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B85C38"/>
                </a:solidFill>
                <a:effectLst/>
                <a:uFillTx/>
                <a:latin typeface="Georgia"/>
                <a:ea typeface="Georgia"/>
              </a:rPr>
              <a:t>20</a:t>
            </a:r>
            <a:r>
              <a:rPr lang="en-US" sz="2200" b="0" u="none" strike="noStrike">
                <a:solidFill>
                  <a:srgbClr val="B85C38"/>
                </a:solidFill>
                <a:effectLst/>
                <a:uFillTx/>
                <a:latin typeface="Georgia"/>
                <a:ea typeface="Georgia"/>
              </a:rPr>
              <a:t>25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8339040" y="2181240"/>
            <a:ext cx="310680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Magíster 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Ciencia de Datos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8339040" y="3005280"/>
            <a:ext cx="31068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Pontificia Universidad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Javeriana, Cali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8339040" y="3736800"/>
            <a:ext cx="3106800" cy="173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Materias/temas: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Gobernanza de datos, OLAP,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Descomp.de Series de Tiempo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Tesis: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Comparación en pronóstico, de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modelos de deep learning. Directora: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María Constanza Pabón.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639720" y="5931000"/>
            <a:ext cx="107870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>
            <a:off x="639720" y="291960"/>
            <a:ext cx="1078704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Experiencia 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Profesional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646200" y="955800"/>
            <a:ext cx="10553400" cy="10800"/>
          </a:xfrm>
          <a:prstGeom prst="rect">
            <a:avLst/>
          </a:prstGeom>
          <a:solidFill>
            <a:srgbClr val="C9D3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-34200" rIns="90000" bIns="-342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639720" y="6510240"/>
            <a:ext cx="731340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Harvey Demian Bastidas Caicedo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9280440" y="6510240"/>
            <a:ext cx="200952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4  /  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685800" y="1574640"/>
            <a:ext cx="10421640" cy="11160"/>
          </a:xfrm>
          <a:prstGeom prst="rect">
            <a:avLst/>
          </a:prstGeom>
          <a:solidFill>
            <a:srgbClr val="C9D3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-33840" rIns="90000" bIns="-3384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1766880" y="1487520"/>
            <a:ext cx="217440" cy="217080"/>
          </a:xfrm>
          <a:prstGeom prst="ellipse">
            <a:avLst/>
          </a:prstGeom>
          <a:solidFill>
            <a:srgbClr val="1B31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716040" y="1862280"/>
            <a:ext cx="260316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300" b="0" u="none" strike="noStrike">
                <a:solidFill>
                  <a:srgbClr val="B85C38"/>
                </a:solidFill>
                <a:effectLst/>
                <a:uFillTx/>
                <a:latin typeface="Calibri"/>
                <a:ea typeface="Calibri"/>
              </a:rPr>
              <a:t>2005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679320" y="2398680"/>
            <a:ext cx="26035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Aironet S.A.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623880" y="3384720"/>
            <a:ext cx="2603160" cy="12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Servidores linux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Red de un proveedor de internet.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Contról de tráfico y QoS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Implementación de 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NEAT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/C++ para 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algo-trading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Bash scripts, PHP, PGSQL, C++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4556160" y="1487520"/>
            <a:ext cx="217080" cy="217080"/>
          </a:xfrm>
          <a:prstGeom prst="ellipse">
            <a:avLst/>
          </a:prstGeom>
          <a:solidFill>
            <a:srgbClr val="1B31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3505320" y="1862280"/>
            <a:ext cx="260316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300" b="0" u="none" strike="noStrike">
                <a:solidFill>
                  <a:srgbClr val="B85C38"/>
                </a:solidFill>
                <a:effectLst/>
                <a:uFillTx/>
                <a:latin typeface="Calibri"/>
                <a:ea typeface="Calibri"/>
              </a:rPr>
              <a:t>2011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3397320" y="2398680"/>
            <a:ext cx="260316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Cerv</a:t>
            </a:r>
            <a:r>
              <a:rPr lang="en-US" sz="1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ecer</a:t>
            </a:r>
            <a:r>
              <a:rPr lang="en-US" sz="1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ía </a:t>
            </a:r>
            <a:r>
              <a:rPr lang="en-US" sz="1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del </a:t>
            </a:r>
            <a:r>
              <a:rPr lang="en-US" sz="1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Vall</a:t>
            </a:r>
            <a:r>
              <a:rPr lang="en-US" sz="1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3386160" y="3751200"/>
            <a:ext cx="2603160" cy="123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Prácticante → contratista.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Sensores, SCADA y redes.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Sistema de Manteniento Basado en Condición.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Automatizacion de backups.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Implementación de NEAT con candidatos en CUDA.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Bat Scripts, PHP, Javascipt, MySQL, C++ CUDA, </a:t>
            </a:r>
            <a:r>
              <a:rPr lang="en-US" sz="1400" b="1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GitHub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7345440" y="1487520"/>
            <a:ext cx="217080" cy="217080"/>
          </a:xfrm>
          <a:prstGeom prst="ellipse">
            <a:avLst/>
          </a:prstGeom>
          <a:solidFill>
            <a:srgbClr val="1B31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6292800" y="1862280"/>
            <a:ext cx="260316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300" b="0" u="none" strike="noStrike">
                <a:solidFill>
                  <a:srgbClr val="B85C38"/>
                </a:solidFill>
                <a:effectLst/>
                <a:uFillTx/>
                <a:latin typeface="Calibri"/>
                <a:ea typeface="Calibri"/>
              </a:rPr>
              <a:t>2018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6292800" y="2398680"/>
            <a:ext cx="260316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Freelance Dev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6310440" y="3668760"/>
            <a:ext cx="2603160" cy="12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Aplicaciones Web/MySQL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Mapas, Map Server, ArcGIS (OSSO)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Open source: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Gym environment for FX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NEAT trading agent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Decentralized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 NEAT y DEAP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PHP, Javascript, </a:t>
            </a:r>
            <a:r>
              <a:rPr lang="en-US" sz="1400" b="1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Python</a:t>
            </a: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, Node.js, REST API, JSON, Sqlite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10134720" y="1495440"/>
            <a:ext cx="217080" cy="217440"/>
          </a:xfrm>
          <a:prstGeom prst="ellipse">
            <a:avLst/>
          </a:prstGeom>
          <a:solidFill>
            <a:srgbClr val="1B31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9282240" y="1887480"/>
            <a:ext cx="2603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300" b="0" u="none" strike="noStrike">
                <a:solidFill>
                  <a:srgbClr val="B85C38"/>
                </a:solidFill>
                <a:effectLst/>
                <a:uFillTx/>
                <a:latin typeface="Calibri"/>
                <a:ea typeface="Calibri"/>
              </a:rPr>
              <a:t>2021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9082080" y="2397240"/>
            <a:ext cx="260316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Open Source Dev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9082080" y="3770280"/>
            <a:ext cx="2603160" cy="12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Data Governance (data-gov)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Optimización P2P (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doin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RL (gym-fx+agent-multi)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Timeseries Forecasting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Autoencoder(feature-ext)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Datos Sintéticos (varios)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Algo-trading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 (varios)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br>
              <a:rPr sz="1400"/>
            </a:b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Keras/PyTorch, Modular Components, Analytics DB, </a:t>
            </a:r>
            <a:r>
              <a:rPr lang="en-US" sz="1400" b="1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OLAP</a:t>
            </a: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, TDD, CRISP-DM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/>
          <p:nvPr/>
        </p:nvSpPr>
        <p:spPr>
          <a:xfrm>
            <a:off x="630000" y="234000"/>
            <a:ext cx="1079820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630000" y="522000"/>
            <a:ext cx="10798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M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o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t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i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v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a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c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i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ó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n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: 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U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n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a 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v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e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n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t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a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j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a 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p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e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q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u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e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ñ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a 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p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u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e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d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e 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i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m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p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o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r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t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a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r 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m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u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c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h</a:t>
            </a: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o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630000" y="6534000"/>
            <a:ext cx="971820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11016000" y="6534000"/>
            <a:ext cx="43020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630000" y="6012000"/>
            <a:ext cx="10924200" cy="39420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756000" y="6076800"/>
            <a:ext cx="106182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Motivación: El extractor de </a:t>
            </a:r>
            <a:r>
              <a:rPr lang="en-US" sz="18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características con Conv1D </a:t>
            </a:r>
            <a:r>
              <a:rPr lang="en-US" sz="18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produjo el mejor resultado.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"/>
          <p:cNvPicPr/>
          <p:nvPr/>
        </p:nvPicPr>
        <p:blipFill>
          <a:blip r:embed="rId1"/>
          <a:stretch/>
        </p:blipFill>
        <p:spPr>
          <a:xfrm>
            <a:off x="84600" y="1259280"/>
            <a:ext cx="5713920" cy="4285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" name=""/>
          <p:cNvPicPr/>
          <p:nvPr/>
        </p:nvPicPr>
        <p:blipFill>
          <a:blip r:embed="rId2"/>
          <a:stretch/>
        </p:blipFill>
        <p:spPr>
          <a:xfrm>
            <a:off x="5748840" y="1515600"/>
            <a:ext cx="5993280" cy="374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"/>
          <p:cNvSpPr/>
          <p:nvPr/>
        </p:nvSpPr>
        <p:spPr>
          <a:xfrm>
            <a:off x="630000" y="6534000"/>
            <a:ext cx="971820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404640" y="5424480"/>
            <a:ext cx="4961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s-CO" sz="10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Figura 1. Sharpe ratio de simulaciones de trading, tesis de M.DS [1, fig. 43]. Usa estrategia heurística de trading basada en predicciones de corto y largo plazo [2]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5799600" y="5440320"/>
            <a:ext cx="59436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s-CO" sz="10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Figura 2. Barrido de ruido gaussiano sobre un oráculo direccional: resultados y datos históricos de heuristic-strategy [2].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>
            <a:off x="0" y="0"/>
            <a:ext cx="12191400" cy="6856200"/>
          </a:xfrm>
          <a:prstGeom prst="rect">
            <a:avLst/>
          </a:prstGeom>
          <a:solidFill>
            <a:srgbClr val="F3EE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630000" y="522000"/>
            <a:ext cx="10798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El </a:t>
            </a: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foc</a:t>
            </a: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o: </a:t>
            </a: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Pr</a:t>
            </a: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on</a:t>
            </a: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óst</a:t>
            </a: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ico </a:t>
            </a: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y </a:t>
            </a: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RL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630000" y="1180800"/>
            <a:ext cx="10924200" cy="10800"/>
          </a:xfrm>
          <a:prstGeom prst="rect">
            <a:avLst/>
          </a:prstGeom>
          <a:solidFill>
            <a:srgbClr val="C5D0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630000" y="6534000"/>
            <a:ext cx="971820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1016000" y="6534000"/>
            <a:ext cx="43020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655560" y="1792440"/>
            <a:ext cx="4030200" cy="3922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630000" y="1764000"/>
            <a:ext cx="25200" cy="392220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tIns="45000" rIns="126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792000" y="1900800"/>
            <a:ext cx="3724200" cy="3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Entradas heterogéneas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792000" y="2376000"/>
            <a:ext cx="3724200" cy="32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Precios y tasas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Indicadores: RSI, MACD…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Fundam.: S&amp;P 500, VIX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Estacionales: HoD,DoW,MoY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Feature-Engineering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Calendario económico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Datos disponibles en Yahoo 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Finance y proveedores pagos 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como FX-MacroData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4932000" y="1764000"/>
            <a:ext cx="6622200" cy="169020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4932000" y="1764000"/>
            <a:ext cx="25200" cy="169020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tIns="45000" rIns="126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5093640" y="1900800"/>
            <a:ext cx="6315840" cy="3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Dos tareas principales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5093640" y="2376000"/>
            <a:ext cx="6315840" cy="98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Supervisado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: objetivos por 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horizonte (naive)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RL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: política y valor sobre el 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estado disponible 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(SAC,DQN)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4932000" y="3708000"/>
            <a:ext cx="6622200" cy="1978200"/>
          </a:xfrm>
          <a:prstGeom prst="rect">
            <a:avLst/>
          </a:prstGeom>
          <a:solidFill>
            <a:srgbClr val="F6E3D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4932000" y="3708000"/>
            <a:ext cx="25200" cy="197820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tIns="45000" rIns="126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5093640" y="3844800"/>
            <a:ext cx="6315840" cy="3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Tareas de apoyo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5093640" y="4319640"/>
            <a:ext cx="6315840" cy="12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Autosupervisado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: aprende representaciones(f-extr.)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No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-</a:t>
            </a:r>
            <a:r>
              <a:rPr lang="en-US" sz="20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Supervisado: Regímenes de mercado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Opcional: Causal Inference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 para usar el calendario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630000" y="5868000"/>
            <a:ext cx="10924200" cy="39420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756000" y="5932800"/>
            <a:ext cx="106182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9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Entradas con diferentes comportamientos, que pueden contener distintos niveles de ruido.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>
            <a:off x="630000" y="522000"/>
            <a:ext cx="10798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Pregunta de Investigación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630000" y="1180800"/>
            <a:ext cx="10924200" cy="10800"/>
          </a:xfrm>
          <a:prstGeom prst="rect">
            <a:avLst/>
          </a:prstGeom>
          <a:solidFill>
            <a:srgbClr val="C5D0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630000" y="6534000"/>
            <a:ext cx="971820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11016000" y="6534000"/>
            <a:ext cx="43020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457200" y="2971800"/>
            <a:ext cx="5942520" cy="22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¿En que condiciones caracterizar las entradas para agruparlas por similitudes en métricas y adaptar el preprocesamiento y extracción de características por grupo, mejora el pronóstico o la política aprendida respecto a un control?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" name=""/>
          <p:cNvPicPr/>
          <p:nvPr/>
        </p:nvPicPr>
        <p:blipFill>
          <a:blip r:embed="rId1"/>
          <a:stretch/>
        </p:blipFill>
        <p:spPr>
          <a:xfrm>
            <a:off x="7285680" y="1407600"/>
            <a:ext cx="4371840" cy="4307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"/>
          <p:cNvSpPr/>
          <p:nvPr/>
        </p:nvSpPr>
        <p:spPr>
          <a:xfrm>
            <a:off x="7808400" y="5859000"/>
            <a:ext cx="34286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s-CO" sz="10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Figura 3. Representación temporal modular para procesamiento diferenciado basado en datos 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rofile 3"/>
          <p:cNvSpPr/>
          <p:nvPr/>
        </p:nvSpPr>
        <p:spPr>
          <a:xfrm>
            <a:off x="0" y="0"/>
            <a:ext cx="12192840" cy="6857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rofile 4"/>
          <p:cNvSpPr/>
          <p:nvPr/>
        </p:nvSpPr>
        <p:spPr>
          <a:xfrm>
            <a:off x="658440" y="292680"/>
            <a:ext cx="10057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CARACTERIZACIÓN DE ENTRADAS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rofile 5"/>
          <p:cNvSpPr/>
          <p:nvPr/>
        </p:nvSpPr>
        <p:spPr>
          <a:xfrm>
            <a:off x="658440" y="694800"/>
            <a:ext cx="10972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¿Qué medimos para caracterizar una entrada?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rofile 6"/>
          <p:cNvSpPr/>
          <p:nvPr/>
        </p:nvSpPr>
        <p:spPr>
          <a:xfrm>
            <a:off x="658440" y="1334880"/>
            <a:ext cx="10880640" cy="1116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rofile 7"/>
          <p:cNvSpPr/>
          <p:nvPr/>
        </p:nvSpPr>
        <p:spPr>
          <a:xfrm>
            <a:off x="658440" y="1334880"/>
            <a:ext cx="785520" cy="3600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Profile 8"/>
          <p:cNvSpPr/>
          <p:nvPr/>
        </p:nvSpPr>
        <p:spPr>
          <a:xfrm>
            <a:off x="731520" y="1682640"/>
            <a:ext cx="51199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Esta</a:t>
            </a: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cion</a:t>
            </a: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arie</a:t>
            </a: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dad </a:t>
            </a: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y </a:t>
            </a: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deri</a:t>
            </a: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va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rofile 9"/>
          <p:cNvSpPr/>
          <p:nvPr/>
        </p:nvSpPr>
        <p:spPr>
          <a:xfrm>
            <a:off x="731520" y="2148840"/>
            <a:ext cx="51199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ADF / KPSS; media y varianza por bloques.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rofile 10"/>
          <p:cNvSpPr/>
          <p:nvPr/>
        </p:nvSpPr>
        <p:spPr>
          <a:xfrm>
            <a:off x="731520" y="2551320"/>
            <a:ext cx="51199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Nivel, diferencias o retornos candidatos.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rofile 11"/>
          <p:cNvSpPr/>
          <p:nvPr/>
        </p:nvSpPr>
        <p:spPr>
          <a:xfrm>
            <a:off x="6400800" y="1682640"/>
            <a:ext cx="51199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Estacionalidad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rofile 12"/>
          <p:cNvSpPr/>
          <p:nvPr/>
        </p:nvSpPr>
        <p:spPr>
          <a:xfrm>
            <a:off x="6400800" y="2148840"/>
            <a:ext cx="51199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Fuerza estacional STL; periodo y estabilidad.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rofile 13"/>
          <p:cNvSpPr/>
          <p:nvPr/>
        </p:nvSpPr>
        <p:spPr>
          <a:xfrm>
            <a:off x="6400800" y="2551320"/>
            <a:ext cx="51199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Ciclos repetidos, distintos de estacionariedad.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rofile 14"/>
          <p:cNvSpPr/>
          <p:nvPr/>
        </p:nvSpPr>
        <p:spPr>
          <a:xfrm>
            <a:off x="731520" y="2962800"/>
            <a:ext cx="51199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Memoria y frecuencia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rofile 15"/>
          <p:cNvSpPr/>
          <p:nvPr/>
        </p:nvSpPr>
        <p:spPr>
          <a:xfrm>
            <a:off x="731520" y="3429000"/>
            <a:ext cx="51199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ACF / PACF; periodos y entropía espectral.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rofile 16"/>
          <p:cNvSpPr/>
          <p:nvPr/>
        </p:nvSpPr>
        <p:spPr>
          <a:xfrm>
            <a:off x="731520" y="3831480"/>
            <a:ext cx="51199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Hilbert por banda: fase y periodo local.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rofile 17"/>
          <p:cNvSpPr/>
          <p:nvPr/>
        </p:nvSpPr>
        <p:spPr>
          <a:xfrm>
            <a:off x="6400800" y="2962800"/>
            <a:ext cx="51199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Variabilidad y colas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rofile 18"/>
          <p:cNvSpPr/>
          <p:nvPr/>
        </p:nvSpPr>
        <p:spPr>
          <a:xfrm>
            <a:off x="6400800" y="3429000"/>
            <a:ext cx="51199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MAD; cuantiles; ACF de |retornos|.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rofile 19"/>
          <p:cNvSpPr/>
          <p:nvPr/>
        </p:nvSpPr>
        <p:spPr>
          <a:xfrm>
            <a:off x="6400800" y="3831480"/>
            <a:ext cx="51199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Escalado robusto y pérdidas candidatas.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rofile 20"/>
          <p:cNvSpPr/>
          <p:nvPr/>
        </p:nvSpPr>
        <p:spPr>
          <a:xfrm>
            <a:off x="731520" y="4242960"/>
            <a:ext cx="51199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Relaciones entre entradas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rofile 21"/>
          <p:cNvSpPr/>
          <p:nvPr/>
        </p:nvSpPr>
        <p:spPr>
          <a:xfrm>
            <a:off x="731520" y="4709160"/>
            <a:ext cx="51199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Correlación retardada y coherencia.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rofile 22"/>
          <p:cNvSpPr/>
          <p:nvPr/>
        </p:nvSpPr>
        <p:spPr>
          <a:xfrm>
            <a:off x="731520" y="5111640"/>
            <a:ext cx="51199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Agrupación y alineación temporal.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rofile 23"/>
          <p:cNvSpPr/>
          <p:nvPr/>
        </p:nvSpPr>
        <p:spPr>
          <a:xfrm>
            <a:off x="6400800" y="4242960"/>
            <a:ext cx="51199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Disponibilidad y calidad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rofile 24"/>
          <p:cNvSpPr/>
          <p:nvPr/>
        </p:nvSpPr>
        <p:spPr>
          <a:xfrm>
            <a:off x="6400800" y="4709160"/>
            <a:ext cx="51199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Latencia, faltantes y revisiones.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rofile 25"/>
          <p:cNvSpPr/>
          <p:nvPr/>
        </p:nvSpPr>
        <p:spPr>
          <a:xfrm>
            <a:off x="6400800" y="5111640"/>
            <a:ext cx="51199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Máscaras e información admisible al decidir.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rofile 26"/>
          <p:cNvSpPr/>
          <p:nvPr/>
        </p:nvSpPr>
        <p:spPr>
          <a:xfrm>
            <a:off x="731520" y="5669280"/>
            <a:ext cx="10697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Perfil calculado solo en datos de entrenamiento, validación se usa durante optimización y test reservado.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Profile 27"/>
          <p:cNvSpPr/>
          <p:nvPr/>
        </p:nvSpPr>
        <p:spPr>
          <a:xfrm>
            <a:off x="731520" y="6089760"/>
            <a:ext cx="1069776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2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Fuentes: perfil y estacionalidad [3]; </a:t>
            </a:r>
            <a:r>
              <a:rPr lang="es-CO" sz="12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ADF/KPSS [4]; Hilbert, correlación y </a:t>
            </a:r>
            <a:r>
              <a:rPr lang="es-CO" sz="12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coherencia [5].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rofile 28"/>
          <p:cNvSpPr/>
          <p:nvPr/>
        </p:nvSpPr>
        <p:spPr>
          <a:xfrm>
            <a:off x="658440" y="6419160"/>
            <a:ext cx="10880640" cy="1008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rofile 29"/>
          <p:cNvSpPr/>
          <p:nvPr/>
        </p:nvSpPr>
        <p:spPr>
          <a:xfrm>
            <a:off x="658440" y="6546960"/>
            <a:ext cx="96004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</a:t>
            </a: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rofile 30"/>
          <p:cNvSpPr/>
          <p:nvPr/>
        </p:nvSpPr>
        <p:spPr>
          <a:xfrm>
            <a:off x="10972800" y="6546960"/>
            <a:ext cx="4564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"/>
          <p:cNvSpPr/>
          <p:nvPr/>
        </p:nvSpPr>
        <p:spPr>
          <a:xfrm>
            <a:off x="0" y="0"/>
            <a:ext cx="12191400" cy="6856200"/>
          </a:xfrm>
          <a:prstGeom prst="rect">
            <a:avLst/>
          </a:prstGeom>
          <a:solidFill>
            <a:srgbClr val="F3EE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630000" y="522000"/>
            <a:ext cx="10798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Cómo se forman los grupos y se elige la configuración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630000" y="1180800"/>
            <a:ext cx="10924200" cy="10800"/>
          </a:xfrm>
          <a:prstGeom prst="rect">
            <a:avLst/>
          </a:prstGeom>
          <a:solidFill>
            <a:srgbClr val="C5D0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630000" y="6534000"/>
            <a:ext cx="971820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11016000" y="6534000"/>
            <a:ext cx="43020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630000" y="1764000"/>
            <a:ext cx="2554200" cy="237420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630000" y="1764000"/>
            <a:ext cx="25200" cy="237420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tIns="45000" rIns="126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792000" y="1900800"/>
            <a:ext cx="2248200" cy="3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1 · Perfilar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792000" y="2376000"/>
            <a:ext cx="2248200" cy="16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Estadísticas de cada serie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en entrenamiento.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3420000" y="1764000"/>
            <a:ext cx="2554200" cy="2374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3420000" y="1764000"/>
            <a:ext cx="25200" cy="237420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tIns="45000" rIns="126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3582000" y="1900800"/>
            <a:ext cx="2248200" cy="3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2 · Agrupar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3582000" y="2376000"/>
            <a:ext cx="2248200" cy="16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m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l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u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+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a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b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l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a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N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ú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m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r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g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r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u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p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c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a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n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a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6210000" y="1764000"/>
            <a:ext cx="2554200" cy="2374200"/>
          </a:xfrm>
          <a:prstGeom prst="rect">
            <a:avLst/>
          </a:prstGeom>
          <a:solidFill>
            <a:srgbClr val="F6E3D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6210000" y="1764000"/>
            <a:ext cx="25200" cy="237420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tIns="45000" rIns="126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6372000" y="1900800"/>
            <a:ext cx="2248200" cy="3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3 · Buscar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6372000" y="2376000"/>
            <a:ext cx="2248200" cy="16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Transformación + ventana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+ extractor por grupo.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9000000" y="1764000"/>
            <a:ext cx="2554200" cy="237420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9000000" y="1764000"/>
            <a:ext cx="25200" cy="237420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tIns="45000" rIns="126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9162000" y="1900800"/>
            <a:ext cx="2248200" cy="3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4 · Evaluar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9162000" y="2376000"/>
            <a:ext cx="2248200" cy="16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Validación temporal 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interna;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prueba exterior 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intacta.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720000" y="4554000"/>
            <a:ext cx="1061820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3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Controles: sin grupos · grupos aleatorios · tratamiento común.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3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Información, población y presupuesto de búsqueda declarado iguales.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630000" y="5886000"/>
            <a:ext cx="10924200" cy="39420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756000" y="5932800"/>
            <a:ext cx="106182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DOIN puede ejecutar la búsqueda; la contribución es el criterio de representación.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eference 400"/>
          <p:cNvSpPr/>
          <p:nvPr/>
        </p:nvSpPr>
        <p:spPr>
          <a:xfrm>
            <a:off x="731520" y="5559480"/>
            <a:ext cx="10698120" cy="22824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321"/>
              </a:lnSpc>
            </a:pPr>
            <a:r>
              <a:rPr lang="es-CO" sz="1600" b="0" u="none" strike="noStrike">
                <a:solidFill>
                  <a:srgbClr val="526372"/>
                </a:solidFill>
                <a:effectLst/>
                <a:uFillTx/>
                <a:latin typeface="Arial"/>
              </a:rPr>
              <a:t>Antecedentes: perfiles estadísticos [6] y combinación de pronósticos basada en características [7].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>
            <a:off x="0" y="0"/>
            <a:ext cx="12191400" cy="6856200"/>
          </a:xfrm>
          <a:prstGeom prst="rect">
            <a:avLst/>
          </a:prstGeom>
          <a:solidFill>
            <a:srgbClr val="F3EE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630000" y="522000"/>
            <a:ext cx="10798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Modelos </a:t>
            </a: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Candidatos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630000" y="1180800"/>
            <a:ext cx="10924200" cy="10800"/>
          </a:xfrm>
          <a:prstGeom prst="rect">
            <a:avLst/>
          </a:prstGeom>
          <a:solidFill>
            <a:srgbClr val="C5D0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/>
          <p:nvPr/>
        </p:nvSpPr>
        <p:spPr>
          <a:xfrm>
            <a:off x="630000" y="6534000"/>
            <a:ext cx="971820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11016000" y="6534000"/>
            <a:ext cx="43020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630000" y="1836000"/>
            <a:ext cx="3490200" cy="313020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630000" y="1836000"/>
            <a:ext cx="25200" cy="313020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tIns="45000" rIns="126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792000" y="1972800"/>
            <a:ext cx="3184200" cy="3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Conv1D / TCN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792000" y="2448000"/>
            <a:ext cx="3184200" cy="242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Motivos locales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y multiescala.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Variar kernel, capas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y dilatación.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Medir campo receptivo.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4356000" y="1836000"/>
            <a:ext cx="3490200" cy="3130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4356000" y="1836000"/>
            <a:ext cx="25200" cy="313020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tIns="45000" rIns="126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4517640" y="1972800"/>
            <a:ext cx="3184200" cy="3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LSTM / GRU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4517640" y="2448000"/>
            <a:ext cx="3184200" cy="242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Dependencias secuenciales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y estado temporal.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Variar contexto, capas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y profundidad.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8082000" y="1836000"/>
            <a:ext cx="3490200" cy="3130200"/>
          </a:xfrm>
          <a:prstGeom prst="rect">
            <a:avLst/>
          </a:prstGeom>
          <a:solidFill>
            <a:srgbClr val="F6E3D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/>
          <p:nvPr/>
        </p:nvSpPr>
        <p:spPr>
          <a:xfrm>
            <a:off x="8082000" y="1836000"/>
            <a:ext cx="25200" cy="313020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tIns="45000" rIns="126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8244000" y="1972800"/>
            <a:ext cx="3184200" cy="3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Atención/Transformer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8244000" y="2448000"/>
            <a:ext cx="3184200" cy="242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Relaciones distantes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y entre variables.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Variar tokens, dimensión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y número de cabezales.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720000" y="5292000"/>
            <a:ext cx="10690200" cy="53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300" b="1" u="none" strike="noStrike">
                <a:solidFill>
                  <a:srgbClr val="247B78"/>
                </a:solidFill>
                <a:effectLst/>
                <a:uFillTx/>
                <a:latin typeface="Arial"/>
                <a:ea typeface="DejaVu Sans"/>
              </a:rPr>
              <a:t>Se selecciona por comparación de resultados experimentales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Reference 400"/>
          <p:cNvSpPr/>
          <p:nvPr/>
        </p:nvSpPr>
        <p:spPr>
          <a:xfrm>
            <a:off x="731520" y="6053400"/>
            <a:ext cx="10698120" cy="22824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321"/>
              </a:lnSpc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</a:rPr>
              <a:t>Fuentes: redes convolucionales y recurrentes [8]; atención multi-cabezal [9].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>
            <a:off x="720360" y="5292360"/>
            <a:ext cx="10690200" cy="53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300" b="1" u="none" strike="noStrike">
                <a:solidFill>
                  <a:srgbClr val="247B78"/>
                </a:solidFill>
                <a:effectLst/>
                <a:uFillTx/>
                <a:latin typeface="Arial"/>
                <a:ea typeface="DejaVu Sans"/>
              </a:rPr>
              <a:t>Se selecciona por comparación de resultados experimentales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Element 1"/>
          <p:cNvSpPr/>
          <p:nvPr/>
        </p:nvSpPr>
        <p:spPr>
          <a:xfrm>
            <a:off x="630000" y="1197000"/>
            <a:ext cx="11485800" cy="40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Se usaran líneas base estadísticas como DLinear o ARIMAX y Naive.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Element 2"/>
          <p:cNvSpPr/>
          <p:nvPr/>
        </p:nvSpPr>
        <p:spPr>
          <a:xfrm>
            <a:off x="-77040" y="720"/>
            <a:ext cx="1219248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Element 3"/>
          <p:cNvSpPr/>
          <p:nvPr/>
        </p:nvSpPr>
        <p:spPr>
          <a:xfrm>
            <a:off x="658440" y="292680"/>
            <a:ext cx="10057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HIPÓTESIS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Element 4"/>
          <p:cNvSpPr/>
          <p:nvPr/>
        </p:nvSpPr>
        <p:spPr>
          <a:xfrm>
            <a:off x="631080" y="621720"/>
            <a:ext cx="109717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1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Tres hipótesis que pondremos a prueba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Element 5"/>
          <p:cNvSpPr/>
          <p:nvPr/>
        </p:nvSpPr>
        <p:spPr>
          <a:xfrm>
            <a:off x="631080" y="1307520"/>
            <a:ext cx="10926000" cy="97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Element 6"/>
          <p:cNvSpPr/>
          <p:nvPr/>
        </p:nvSpPr>
        <p:spPr>
          <a:xfrm>
            <a:off x="631080" y="1307520"/>
            <a:ext cx="785160" cy="3564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Element 7"/>
          <p:cNvSpPr/>
          <p:nvPr/>
        </p:nvSpPr>
        <p:spPr>
          <a:xfrm>
            <a:off x="631080" y="6419160"/>
            <a:ext cx="10926000" cy="79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Element 8"/>
          <p:cNvSpPr/>
          <p:nvPr/>
        </p:nvSpPr>
        <p:spPr>
          <a:xfrm>
            <a:off x="631080" y="6537960"/>
            <a:ext cx="96001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Element 9"/>
          <p:cNvSpPr/>
          <p:nvPr/>
        </p:nvSpPr>
        <p:spPr>
          <a:xfrm>
            <a:off x="10972800" y="6537960"/>
            <a:ext cx="5475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Element 10"/>
          <p:cNvSpPr/>
          <p:nvPr/>
        </p:nvSpPr>
        <p:spPr>
          <a:xfrm>
            <a:off x="1271160" y="1609200"/>
            <a:ext cx="23760" cy="105048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1880" tIns="45000" rIns="1188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Element 11"/>
          <p:cNvSpPr/>
          <p:nvPr/>
        </p:nvSpPr>
        <p:spPr>
          <a:xfrm>
            <a:off x="658440" y="1572840"/>
            <a:ext cx="6390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7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H1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Element 12"/>
          <p:cNvSpPr/>
          <p:nvPr/>
        </p:nvSpPr>
        <p:spPr>
          <a:xfrm>
            <a:off x="1481400" y="1572840"/>
            <a:ext cx="98744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Mejora global del </a:t>
            </a: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pronóstico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Element 13"/>
          <p:cNvSpPr/>
          <p:nvPr/>
        </p:nvSpPr>
        <p:spPr>
          <a:xfrm>
            <a:off x="1481400" y="1993320"/>
            <a:ext cx="9737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Caracterizar, agrupar y adaptar las ramas reduce el error global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frente al mejor control elegido en desarrollo.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Element 14"/>
          <p:cNvSpPr/>
          <p:nvPr/>
        </p:nvSpPr>
        <p:spPr>
          <a:xfrm>
            <a:off x="1481400" y="2615040"/>
            <a:ext cx="9737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6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Contraste: método completo vs. control, en familias de datos reservadas.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Element 15"/>
          <p:cNvSpPr/>
          <p:nvPr/>
        </p:nvSpPr>
        <p:spPr>
          <a:xfrm>
            <a:off x="1271160" y="3072240"/>
            <a:ext cx="23760" cy="105048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1880" tIns="45000" rIns="1188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Element 16"/>
          <p:cNvSpPr/>
          <p:nvPr/>
        </p:nvSpPr>
        <p:spPr>
          <a:xfrm>
            <a:off x="658440" y="3035880"/>
            <a:ext cx="6390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7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H2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Element 17"/>
          <p:cNvSpPr/>
          <p:nvPr/>
        </p:nvSpPr>
        <p:spPr>
          <a:xfrm>
            <a:off x="1481400" y="3035880"/>
            <a:ext cx="98744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Agrupar ayuda </a:t>
            </a: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más ante mayor </a:t>
            </a: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heterogeneidad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Element 18"/>
          <p:cNvSpPr/>
          <p:nvPr/>
        </p:nvSpPr>
        <p:spPr>
          <a:xfrm>
            <a:off x="1481400" y="3456360"/>
            <a:ext cx="9737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La ventaja de los grupos por perfil aumenta al crecer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las diferencias temporales entre las variables.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Element 19"/>
          <p:cNvSpPr/>
          <p:nvPr/>
        </p:nvSpPr>
        <p:spPr>
          <a:xfrm>
            <a:off x="1481400" y="4078080"/>
            <a:ext cx="9737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6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Contraste: perfiles vs. grupos aleatorios; variar heterogeneidad, no ruido ni tamaño.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Element 20"/>
          <p:cNvSpPr/>
          <p:nvPr/>
        </p:nvSpPr>
        <p:spPr>
          <a:xfrm>
            <a:off x="1271160" y="4535280"/>
            <a:ext cx="23760" cy="105048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1880" tIns="45000" rIns="1188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Element 21"/>
          <p:cNvSpPr/>
          <p:nvPr/>
        </p:nvSpPr>
        <p:spPr>
          <a:xfrm>
            <a:off x="658440" y="4498920"/>
            <a:ext cx="6390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7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H3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Element 22"/>
          <p:cNvSpPr/>
          <p:nvPr/>
        </p:nvSpPr>
        <p:spPr>
          <a:xfrm>
            <a:off x="1481400" y="4498920"/>
            <a:ext cx="98744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Conservar secuencias ayuda ante relaciones retardadas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Element 23"/>
          <p:cNvSpPr/>
          <p:nvPr/>
        </p:nvSpPr>
        <p:spPr>
          <a:xfrm>
            <a:off x="1481400" y="4919400"/>
            <a:ext cx="9737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Fusionar antes de colapsar dimensión temporal mejora el pronóstico, especialmente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cuando una entrada anticipa cambios en otra.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Element 24"/>
          <p:cNvSpPr/>
          <p:nvPr/>
        </p:nvSpPr>
        <p:spPr>
          <a:xfrm>
            <a:off x="1481400" y="5541120"/>
            <a:ext cx="9737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6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Contraste: secuencias </a:t>
            </a:r>
            <a:r>
              <a:rPr lang="es-CO" sz="16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vs. resumen; comparar </a:t>
            </a:r>
            <a:r>
              <a:rPr lang="es-CO" sz="16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con y sin relaciones </a:t>
            </a:r>
            <a:r>
              <a:rPr lang="es-CO" sz="16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retardadas.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Element 25"/>
          <p:cNvSpPr/>
          <p:nvPr/>
        </p:nvSpPr>
        <p:spPr>
          <a:xfrm>
            <a:off x="685800" y="6099120"/>
            <a:ext cx="1078884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4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Antecedentes del perfilado y la selección por características: [6], [7].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Element 2"/>
          <p:cNvSpPr/>
          <p:nvPr/>
        </p:nvSpPr>
        <p:spPr>
          <a:xfrm>
            <a:off x="0" y="0"/>
            <a:ext cx="1219248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Element 3"/>
          <p:cNvSpPr/>
          <p:nvPr/>
        </p:nvSpPr>
        <p:spPr>
          <a:xfrm>
            <a:off x="658440" y="292680"/>
            <a:ext cx="10057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ENTRENAMIENTO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Element 4"/>
          <p:cNvSpPr/>
          <p:nvPr/>
        </p:nvSpPr>
        <p:spPr>
          <a:xfrm>
            <a:off x="631080" y="621720"/>
            <a:ext cx="109717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1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Tres formas de entrenar el mismo extractor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Element 5"/>
          <p:cNvSpPr/>
          <p:nvPr/>
        </p:nvSpPr>
        <p:spPr>
          <a:xfrm>
            <a:off x="631080" y="1307520"/>
            <a:ext cx="10926000" cy="97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Element 6"/>
          <p:cNvSpPr/>
          <p:nvPr/>
        </p:nvSpPr>
        <p:spPr>
          <a:xfrm>
            <a:off x="631080" y="1307520"/>
            <a:ext cx="785160" cy="3564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Element 7"/>
          <p:cNvSpPr/>
          <p:nvPr/>
        </p:nvSpPr>
        <p:spPr>
          <a:xfrm>
            <a:off x="631080" y="6419160"/>
            <a:ext cx="10926000" cy="79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Element 8"/>
          <p:cNvSpPr/>
          <p:nvPr/>
        </p:nvSpPr>
        <p:spPr>
          <a:xfrm>
            <a:off x="631080" y="6537960"/>
            <a:ext cx="96001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Element 9"/>
          <p:cNvSpPr/>
          <p:nvPr/>
        </p:nvSpPr>
        <p:spPr>
          <a:xfrm>
            <a:off x="10972800" y="6537960"/>
            <a:ext cx="5475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Element 10"/>
          <p:cNvSpPr/>
          <p:nvPr/>
        </p:nvSpPr>
        <p:spPr>
          <a:xfrm>
            <a:off x="685800" y="1591200"/>
            <a:ext cx="10788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Autoencoder: aprende a reconstruir entradas usando solo entrenamiento.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Reutilizamos el codificador como detector; el decodificador se retira [10].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Element 11"/>
          <p:cNvSpPr/>
          <p:nvPr/>
        </p:nvSpPr>
        <p:spPr>
          <a:xfrm>
            <a:off x="640080" y="2423160"/>
            <a:ext cx="10898640" cy="529200"/>
          </a:xfrm>
          <a:prstGeom prst="rect">
            <a:avLst/>
          </a:prstGeom>
          <a:solidFill>
            <a:srgbClr val="EAF3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Element 12"/>
          <p:cNvSpPr/>
          <p:nvPr/>
        </p:nvSpPr>
        <p:spPr>
          <a:xfrm>
            <a:off x="822960" y="2551320"/>
            <a:ext cx="30164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Modalidad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Element 13"/>
          <p:cNvSpPr/>
          <p:nvPr/>
        </p:nvSpPr>
        <p:spPr>
          <a:xfrm>
            <a:off x="4023360" y="2551320"/>
            <a:ext cx="37022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Pesos iniciales del detector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Element 14"/>
          <p:cNvSpPr/>
          <p:nvPr/>
        </p:nvSpPr>
        <p:spPr>
          <a:xfrm>
            <a:off x="8138160" y="2551320"/>
            <a:ext cx="31078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En la tarea final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Element 15"/>
          <p:cNvSpPr/>
          <p:nvPr/>
        </p:nvSpPr>
        <p:spPr>
          <a:xfrm>
            <a:off x="822960" y="3218760"/>
            <a:ext cx="301644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R0 · Desde cero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Element 16"/>
          <p:cNvSpPr/>
          <p:nvPr/>
        </p:nvSpPr>
        <p:spPr>
          <a:xfrm>
            <a:off x="4023360" y="3218760"/>
            <a:ext cx="370224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Aleatorios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Element 17"/>
          <p:cNvSpPr/>
          <p:nvPr/>
        </p:nvSpPr>
        <p:spPr>
          <a:xfrm>
            <a:off x="8138160" y="3218760"/>
            <a:ext cx="310788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Se actualizan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Element 18"/>
          <p:cNvSpPr/>
          <p:nvPr/>
        </p:nvSpPr>
        <p:spPr>
          <a:xfrm>
            <a:off x="822960" y="3684960"/>
            <a:ext cx="10514520" cy="720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720" rIns="90000" bIns="-36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Element 19"/>
          <p:cNvSpPr/>
          <p:nvPr/>
        </p:nvSpPr>
        <p:spPr>
          <a:xfrm>
            <a:off x="822960" y="3858840"/>
            <a:ext cx="301644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R1 · </a:t>
            </a:r>
            <a:r>
              <a:rPr lang="es-CO" sz="185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Con</a:t>
            </a:r>
            <a:r>
              <a:rPr lang="es-CO" sz="185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gela</a:t>
            </a:r>
            <a:r>
              <a:rPr lang="es-CO" sz="185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do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Element 20"/>
          <p:cNvSpPr/>
          <p:nvPr/>
        </p:nvSpPr>
        <p:spPr>
          <a:xfrm>
            <a:off x="4023360" y="3858840"/>
            <a:ext cx="370224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Codificador preentrenado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Element 21"/>
          <p:cNvSpPr/>
          <p:nvPr/>
        </p:nvSpPr>
        <p:spPr>
          <a:xfrm>
            <a:off x="8138160" y="3858840"/>
            <a:ext cx="310788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Se congelan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Element 22"/>
          <p:cNvSpPr/>
          <p:nvPr/>
        </p:nvSpPr>
        <p:spPr>
          <a:xfrm>
            <a:off x="822960" y="4325040"/>
            <a:ext cx="10514520" cy="720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720" rIns="90000" bIns="-36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Element 23"/>
          <p:cNvSpPr/>
          <p:nvPr/>
        </p:nvSpPr>
        <p:spPr>
          <a:xfrm>
            <a:off x="822960" y="4498920"/>
            <a:ext cx="301644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R2 · Ajustable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Element 24"/>
          <p:cNvSpPr/>
          <p:nvPr/>
        </p:nvSpPr>
        <p:spPr>
          <a:xfrm>
            <a:off x="4023360" y="4498920"/>
            <a:ext cx="370224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El mismo codificador de R1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Element 25"/>
          <p:cNvSpPr/>
          <p:nvPr/>
        </p:nvSpPr>
        <p:spPr>
          <a:xfrm>
            <a:off x="8138160" y="4498920"/>
            <a:ext cx="310788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Se actualizan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Element 26"/>
          <p:cNvSpPr/>
          <p:nvPr/>
        </p:nvSpPr>
        <p:spPr>
          <a:xfrm>
            <a:off x="822960" y="4965120"/>
            <a:ext cx="10514520" cy="720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720" rIns="90000" bIns="-36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Element 27"/>
          <p:cNvSpPr/>
          <p:nvPr/>
        </p:nvSpPr>
        <p:spPr>
          <a:xfrm>
            <a:off x="777240" y="5248800"/>
            <a:ext cx="1060596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s-CO" sz="21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R1 y R2 parten de los mismos pesos preentrenados.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CO" sz="21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En los tres casos se entrenan la fusión, el núcleo y el cabezal.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Element 28"/>
          <p:cNvSpPr/>
          <p:nvPr/>
        </p:nvSpPr>
        <p:spPr>
          <a:xfrm>
            <a:off x="777240" y="5998320"/>
            <a:ext cx="1060596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Element 2"/>
          <p:cNvSpPr/>
          <p:nvPr/>
        </p:nvSpPr>
        <p:spPr>
          <a:xfrm>
            <a:off x="0" y="0"/>
            <a:ext cx="1219248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Element 3"/>
          <p:cNvSpPr/>
          <p:nvPr/>
        </p:nvSpPr>
        <p:spPr>
          <a:xfrm>
            <a:off x="658440" y="292680"/>
            <a:ext cx="10057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EXPERIMENTOS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Element 4"/>
          <p:cNvSpPr/>
          <p:nvPr/>
        </p:nvSpPr>
        <p:spPr>
          <a:xfrm>
            <a:off x="631080" y="621720"/>
            <a:ext cx="109717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1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Qué vamos a probar y </a:t>
            </a:r>
            <a:r>
              <a:rPr lang="es-CO" sz="2900" b="1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en qué datos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Element 5"/>
          <p:cNvSpPr/>
          <p:nvPr/>
        </p:nvSpPr>
        <p:spPr>
          <a:xfrm>
            <a:off x="631080" y="1307520"/>
            <a:ext cx="10926000" cy="97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Element 6"/>
          <p:cNvSpPr/>
          <p:nvPr/>
        </p:nvSpPr>
        <p:spPr>
          <a:xfrm>
            <a:off x="631080" y="1307520"/>
            <a:ext cx="785160" cy="3564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Element 7"/>
          <p:cNvSpPr/>
          <p:nvPr/>
        </p:nvSpPr>
        <p:spPr>
          <a:xfrm>
            <a:off x="631080" y="6419160"/>
            <a:ext cx="10926000" cy="79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Element 8"/>
          <p:cNvSpPr/>
          <p:nvPr/>
        </p:nvSpPr>
        <p:spPr>
          <a:xfrm>
            <a:off x="631080" y="6537960"/>
            <a:ext cx="96001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</a:t>
            </a: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Demian </a:t>
            </a: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Bastidas </a:t>
            </a: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Caicedo  </a:t>
            </a: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·  </a:t>
            </a: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Propuest</a:t>
            </a: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Element 9"/>
          <p:cNvSpPr/>
          <p:nvPr/>
        </p:nvSpPr>
        <p:spPr>
          <a:xfrm>
            <a:off x="10972800" y="6537960"/>
            <a:ext cx="5475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Element 10"/>
          <p:cNvSpPr/>
          <p:nvPr/>
        </p:nvSpPr>
        <p:spPr>
          <a:xfrm>
            <a:off x="685800" y="1572840"/>
            <a:ext cx="108802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Probar cada componente, después el sistema completo.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Element 11"/>
          <p:cNvSpPr/>
          <p:nvPr/>
        </p:nvSpPr>
        <p:spPr>
          <a:xfrm>
            <a:off x="685800" y="2146680"/>
            <a:ext cx="10880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at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s 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e 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el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ct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ri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ci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a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d, 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cli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m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a 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y 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tr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áf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ic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o 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e 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la 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lit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er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at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ur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a 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[1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1]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, 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[1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2]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, 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a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m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á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s 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e 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at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s 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fi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n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a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n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ci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er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s.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Element 12"/>
          <p:cNvSpPr/>
          <p:nvPr/>
        </p:nvSpPr>
        <p:spPr>
          <a:xfrm>
            <a:off x="731520" y="2868840"/>
            <a:ext cx="5932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E1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Element 13"/>
          <p:cNvSpPr/>
          <p:nvPr/>
        </p:nvSpPr>
        <p:spPr>
          <a:xfrm>
            <a:off x="1481400" y="2868840"/>
            <a:ext cx="43880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Señales controladas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Element 14"/>
          <p:cNvSpPr/>
          <p:nvPr/>
        </p:nvSpPr>
        <p:spPr>
          <a:xfrm>
            <a:off x="731520" y="3417480"/>
            <a:ext cx="5119560" cy="84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Crear series con ciclos, ruido y retardos.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Comparar cómo agruparlas y fusionarlas.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Element 15"/>
          <p:cNvSpPr/>
          <p:nvPr/>
        </p:nvSpPr>
        <p:spPr>
          <a:xfrm>
            <a:off x="6400800" y="2868840"/>
            <a:ext cx="5932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E2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Element 16"/>
          <p:cNvSpPr/>
          <p:nvPr/>
        </p:nvSpPr>
        <p:spPr>
          <a:xfrm>
            <a:off x="7150680" y="2868840"/>
            <a:ext cx="43880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Comparar alternativas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Element 17"/>
          <p:cNvSpPr/>
          <p:nvPr/>
        </p:nvSpPr>
        <p:spPr>
          <a:xfrm>
            <a:off x="6400800" y="3417480"/>
            <a:ext cx="5119560" cy="84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Comparar modelos y transformaciones,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con y sin extractores preentrenados.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Element 18"/>
          <p:cNvSpPr/>
          <p:nvPr/>
        </p:nvSpPr>
        <p:spPr>
          <a:xfrm>
            <a:off x="731520" y="4496400"/>
            <a:ext cx="5932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E3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Element 19"/>
          <p:cNvSpPr/>
          <p:nvPr/>
        </p:nvSpPr>
        <p:spPr>
          <a:xfrm>
            <a:off x="1481400" y="4496400"/>
            <a:ext cx="43880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Probar en otros datos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Element 20"/>
          <p:cNvSpPr/>
          <p:nvPr/>
        </p:nvSpPr>
        <p:spPr>
          <a:xfrm>
            <a:off x="731520" y="5045040"/>
            <a:ext cx="5119560" cy="84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Evaluar la solución elegida sin reajustarla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en datos no usados para elegirla (test). Calcular </a:t>
            </a: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métricas y comparar con literatura.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Element 21"/>
          <p:cNvSpPr/>
          <p:nvPr/>
        </p:nvSpPr>
        <p:spPr>
          <a:xfrm>
            <a:off x="6400800" y="4496400"/>
            <a:ext cx="5932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E4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Element 22"/>
          <p:cNvSpPr/>
          <p:nvPr/>
        </p:nvSpPr>
        <p:spPr>
          <a:xfrm>
            <a:off x="7150680" y="4496400"/>
            <a:ext cx="43880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Evaluar en trading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Element 23"/>
          <p:cNvSpPr/>
          <p:nvPr/>
        </p:nvSpPr>
        <p:spPr>
          <a:xfrm>
            <a:off x="6400800" y="5045040"/>
            <a:ext cx="5119560" cy="84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Predecir precios y aprender decisiones.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Simular costes y actualización semanal.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Element 2"/>
          <p:cNvSpPr/>
          <p:nvPr/>
        </p:nvSpPr>
        <p:spPr>
          <a:xfrm>
            <a:off x="0" y="0"/>
            <a:ext cx="1219248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Element 3"/>
          <p:cNvSpPr/>
          <p:nvPr/>
        </p:nvSpPr>
        <p:spPr>
          <a:xfrm>
            <a:off x="658440" y="292680"/>
            <a:ext cx="10057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EVALUACIÓN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Element 4"/>
          <p:cNvSpPr/>
          <p:nvPr/>
        </p:nvSpPr>
        <p:spPr>
          <a:xfrm>
            <a:off x="631080" y="621720"/>
            <a:ext cx="109717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1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Cómo sabremos si nuestra propuesta mejora el desempeño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Element 5"/>
          <p:cNvSpPr/>
          <p:nvPr/>
        </p:nvSpPr>
        <p:spPr>
          <a:xfrm>
            <a:off x="631080" y="1307520"/>
            <a:ext cx="10926000" cy="97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Element 6"/>
          <p:cNvSpPr/>
          <p:nvPr/>
        </p:nvSpPr>
        <p:spPr>
          <a:xfrm>
            <a:off x="631080" y="1307520"/>
            <a:ext cx="785160" cy="3564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Element 7"/>
          <p:cNvSpPr/>
          <p:nvPr/>
        </p:nvSpPr>
        <p:spPr>
          <a:xfrm>
            <a:off x="631080" y="6419160"/>
            <a:ext cx="10926000" cy="79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Element 8"/>
          <p:cNvSpPr/>
          <p:nvPr/>
        </p:nvSpPr>
        <p:spPr>
          <a:xfrm>
            <a:off x="631080" y="6537960"/>
            <a:ext cx="96001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Element 9"/>
          <p:cNvSpPr/>
          <p:nvPr/>
        </p:nvSpPr>
        <p:spPr>
          <a:xfrm>
            <a:off x="10972800" y="6537960"/>
            <a:ext cx="5475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Element 10"/>
          <p:cNvSpPr/>
          <p:nvPr/>
        </p:nvSpPr>
        <p:spPr>
          <a:xfrm>
            <a:off x="731520" y="1672200"/>
            <a:ext cx="1078884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Reproducir un modelo publicado y compararlo con nuestra propuesta.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Element 11"/>
          <p:cNvSpPr/>
          <p:nvPr/>
        </p:nvSpPr>
        <p:spPr>
          <a:xfrm>
            <a:off x="777240" y="2565360"/>
            <a:ext cx="401400" cy="3564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Element 12"/>
          <p:cNvSpPr/>
          <p:nvPr/>
        </p:nvSpPr>
        <p:spPr>
          <a:xfrm>
            <a:off x="777240" y="2874600"/>
            <a:ext cx="34279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6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LOS </a:t>
            </a:r>
            <a:r>
              <a:rPr lang="es-CO" sz="16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MISM</a:t>
            </a:r>
            <a:r>
              <a:rPr lang="es-CO" sz="16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OS </a:t>
            </a:r>
            <a:r>
              <a:rPr lang="es-CO" sz="16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DATO</a:t>
            </a:r>
            <a:r>
              <a:rPr lang="es-CO" sz="16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Element 13"/>
          <p:cNvSpPr/>
          <p:nvPr/>
        </p:nvSpPr>
        <p:spPr>
          <a:xfrm>
            <a:off x="777240" y="3304440"/>
            <a:ext cx="34279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Variables y fechas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para entrenar y evaluar.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Element 14"/>
          <p:cNvSpPr/>
          <p:nvPr/>
        </p:nvSpPr>
        <p:spPr>
          <a:xfrm>
            <a:off x="4526280" y="2565360"/>
            <a:ext cx="401400" cy="3564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Element 15"/>
          <p:cNvSpPr/>
          <p:nvPr/>
        </p:nvSpPr>
        <p:spPr>
          <a:xfrm>
            <a:off x="4526280" y="2874600"/>
            <a:ext cx="34279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6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EL MISMO PRONÓSTICO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Element 16"/>
          <p:cNvSpPr/>
          <p:nvPr/>
        </p:nvSpPr>
        <p:spPr>
          <a:xfrm>
            <a:off x="4526280" y="3304440"/>
            <a:ext cx="34279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Usar el mismo valor a predecir y horizonte.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Element 17"/>
          <p:cNvSpPr/>
          <p:nvPr/>
        </p:nvSpPr>
        <p:spPr>
          <a:xfrm>
            <a:off x="8275320" y="2565360"/>
            <a:ext cx="401400" cy="3564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Element 18"/>
          <p:cNvSpPr/>
          <p:nvPr/>
        </p:nvSpPr>
        <p:spPr>
          <a:xfrm>
            <a:off x="8275320" y="2874600"/>
            <a:ext cx="34279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6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MÉTRICA DE ERROR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Element 19"/>
          <p:cNvSpPr/>
          <p:nvPr/>
        </p:nvSpPr>
        <p:spPr>
          <a:xfrm>
            <a:off x="8275320" y="3304440"/>
            <a:ext cx="34279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Usar fórmula y normalización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que el estudio de referencia.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Element 20"/>
          <p:cNvSpPr/>
          <p:nvPr/>
        </p:nvSpPr>
        <p:spPr>
          <a:xfrm>
            <a:off x="777240" y="4365000"/>
            <a:ext cx="10651680" cy="1188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2040" rIns="90000" bIns="-320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Element 21"/>
          <p:cNvSpPr/>
          <p:nvPr/>
        </p:nvSpPr>
        <p:spPr>
          <a:xfrm>
            <a:off x="777240" y="4630320"/>
            <a:ext cx="507384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2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Pronóstico [11], [12]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Element 22"/>
          <p:cNvSpPr/>
          <p:nvPr/>
        </p:nvSpPr>
        <p:spPr>
          <a:xfrm>
            <a:off x="777240" y="5078160"/>
            <a:ext cx="5028120" cy="83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Comparar MAE y MSE con el modelo publicado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y con la predicción de referencia: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que el valor actual no cambia.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Element 23"/>
          <p:cNvSpPr/>
          <p:nvPr/>
        </p:nvSpPr>
        <p:spPr>
          <a:xfrm>
            <a:off x="6400800" y="4630320"/>
            <a:ext cx="50281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0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Trading y aprendizaje por </a:t>
            </a:r>
            <a:r>
              <a:rPr lang="es-CO" sz="20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refuerzo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Element 24"/>
          <p:cNvSpPr/>
          <p:nvPr/>
        </p:nvSpPr>
        <p:spPr>
          <a:xfrm>
            <a:off x="6400800" y="5078160"/>
            <a:ext cx="5028120" cy="83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Comparar beneficio neto, Sharpe y caída máxima.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Usar las mismas fechas, costes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y reglas de ejecución.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Element 25"/>
          <p:cNvSpPr/>
          <p:nvPr/>
        </p:nvSpPr>
        <p:spPr>
          <a:xfrm>
            <a:off x="777240" y="5715000"/>
            <a:ext cx="10651680" cy="53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Element 2"/>
          <p:cNvSpPr/>
          <p:nvPr/>
        </p:nvSpPr>
        <p:spPr>
          <a:xfrm>
            <a:off x="-77040" y="0"/>
            <a:ext cx="1219248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Element 3"/>
          <p:cNvSpPr/>
          <p:nvPr/>
        </p:nvSpPr>
        <p:spPr>
          <a:xfrm>
            <a:off x="658440" y="292680"/>
            <a:ext cx="10057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CONTRIBUCIÓN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Element 4"/>
          <p:cNvSpPr/>
          <p:nvPr/>
        </p:nvSpPr>
        <p:spPr>
          <a:xfrm>
            <a:off x="631080" y="621720"/>
            <a:ext cx="109717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1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Qué aportará esta investigación</a:t>
            </a:r>
          </a:p>
        </p:txBody>
      </p:sp>
      <p:sp>
        <p:nvSpPr>
          <p:cNvPr id="276" name="Element 5"/>
          <p:cNvSpPr/>
          <p:nvPr/>
        </p:nvSpPr>
        <p:spPr>
          <a:xfrm>
            <a:off x="631080" y="1307520"/>
            <a:ext cx="10926000" cy="97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Element 6"/>
          <p:cNvSpPr/>
          <p:nvPr/>
        </p:nvSpPr>
        <p:spPr>
          <a:xfrm>
            <a:off x="631080" y="1307520"/>
            <a:ext cx="785160" cy="3564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Element 7"/>
          <p:cNvSpPr/>
          <p:nvPr/>
        </p:nvSpPr>
        <p:spPr>
          <a:xfrm>
            <a:off x="631080" y="6419160"/>
            <a:ext cx="10926000" cy="79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Element 8"/>
          <p:cNvSpPr/>
          <p:nvPr/>
        </p:nvSpPr>
        <p:spPr>
          <a:xfrm>
            <a:off x="631080" y="6537960"/>
            <a:ext cx="96001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Element 9"/>
          <p:cNvSpPr/>
          <p:nvPr/>
        </p:nvSpPr>
        <p:spPr>
          <a:xfrm>
            <a:off x="10972800" y="6537960"/>
            <a:ext cx="5475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Element 10"/>
          <p:cNvSpPr/>
          <p:nvPr/>
        </p:nvSpPr>
        <p:spPr>
          <a:xfrm>
            <a:off x="777240" y="1654920"/>
            <a:ext cx="10697400" cy="80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2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Un método para elegir cómo procesar cada grupo de series</a:t>
            </a: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2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y comprobar cuándo esa elección mejora los resultados.</a:t>
            </a:r>
          </a:p>
        </p:txBody>
      </p:sp>
      <p:sp>
        <p:nvSpPr>
          <p:cNvPr id="282" name="Element 11"/>
          <p:cNvSpPr/>
          <p:nvPr/>
        </p:nvSpPr>
        <p:spPr>
          <a:xfrm>
            <a:off x="777240" y="2862000"/>
            <a:ext cx="324504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Cómo elegir</a:t>
            </a:r>
          </a:p>
        </p:txBody>
      </p:sp>
      <p:sp>
        <p:nvSpPr>
          <p:cNvPr id="283" name="Element 12"/>
          <p:cNvSpPr/>
          <p:nvPr/>
        </p:nvSpPr>
        <p:spPr>
          <a:xfrm>
            <a:off x="777240" y="3493080"/>
            <a:ext cx="3245040" cy="16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Relacionar las propiedades</a:t>
            </a: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de las series con las</a:t>
            </a: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transformaciones y modelos</a:t>
            </a: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que funcionan mejor.</a:t>
            </a:r>
          </a:p>
        </p:txBody>
      </p:sp>
      <p:sp>
        <p:nvSpPr>
          <p:cNvPr id="284" name="Element 13"/>
          <p:cNvSpPr/>
          <p:nvPr/>
        </p:nvSpPr>
        <p:spPr>
          <a:xfrm>
            <a:off x="4526280" y="2862000"/>
            <a:ext cx="324504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Cuánto mejora</a:t>
            </a:r>
          </a:p>
        </p:txBody>
      </p:sp>
      <p:sp>
        <p:nvSpPr>
          <p:cNvPr id="285" name="Element 14"/>
          <p:cNvSpPr/>
          <p:nvPr/>
        </p:nvSpPr>
        <p:spPr>
          <a:xfrm>
            <a:off x="4526280" y="3493080"/>
            <a:ext cx="3245040" cy="16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Medir la mejora frente</a:t>
            </a: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a los modelos de referencia,</a:t>
            </a: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su coste de entrenamiento</a:t>
            </a: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y cuándo deja de ayudar.</a:t>
            </a:r>
          </a:p>
        </p:txBody>
      </p:sp>
      <p:sp>
        <p:nvSpPr>
          <p:cNvPr id="286" name="Element 15"/>
          <p:cNvSpPr/>
          <p:nvPr/>
        </p:nvSpPr>
        <p:spPr>
          <a:xfrm>
            <a:off x="8275320" y="2862000"/>
            <a:ext cx="324504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Cómo reutilizarlo</a:t>
            </a:r>
          </a:p>
        </p:txBody>
      </p:sp>
      <p:sp>
        <p:nvSpPr>
          <p:cNvPr id="287" name="Element 16"/>
          <p:cNvSpPr/>
          <p:nvPr/>
        </p:nvSpPr>
        <p:spPr>
          <a:xfrm>
            <a:off x="8275320" y="3493080"/>
            <a:ext cx="3245040" cy="16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Publicar código,</a:t>
            </a: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configuraciones y resultados</a:t>
            </a: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para repetir las pruebas</a:t>
            </a: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en pronóstico y trading.</a:t>
            </a:r>
          </a:p>
        </p:txBody>
      </p:sp>
      <p:sp>
        <p:nvSpPr>
          <p:cNvPr id="288" name="Element 17"/>
          <p:cNvSpPr/>
          <p:nvPr/>
        </p:nvSpPr>
        <p:spPr>
          <a:xfrm>
            <a:off x="777240" y="5102280"/>
            <a:ext cx="10651680" cy="97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Element 18"/>
          <p:cNvSpPr/>
          <p:nvPr/>
        </p:nvSpPr>
        <p:spPr>
          <a:xfrm>
            <a:off x="777240" y="5413320"/>
            <a:ext cx="10195560" cy="74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Comprobar la mejora en datos no usados para elegir la configuración [13].</a:t>
            </a: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Después: evaluar si también ayuda preentrenar el núcleo temporal.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Element 2"/>
          <p:cNvSpPr/>
          <p:nvPr/>
        </p:nvSpPr>
        <p:spPr>
          <a:xfrm>
            <a:off x="0" y="0"/>
            <a:ext cx="1219248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Element 3"/>
          <p:cNvSpPr/>
          <p:nvPr/>
        </p:nvSpPr>
        <p:spPr>
          <a:xfrm>
            <a:off x="658440" y="292680"/>
            <a:ext cx="10057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BIBLIOGRAFÍA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Element 4"/>
          <p:cNvSpPr/>
          <p:nvPr/>
        </p:nvSpPr>
        <p:spPr>
          <a:xfrm>
            <a:off x="631080" y="621720"/>
            <a:ext cx="109717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0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Referencias (1/2)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Element 5"/>
          <p:cNvSpPr/>
          <p:nvPr/>
        </p:nvSpPr>
        <p:spPr>
          <a:xfrm>
            <a:off x="631080" y="1307520"/>
            <a:ext cx="10926000" cy="97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Element 6"/>
          <p:cNvSpPr/>
          <p:nvPr/>
        </p:nvSpPr>
        <p:spPr>
          <a:xfrm>
            <a:off x="631080" y="1307520"/>
            <a:ext cx="785160" cy="3564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Element 7"/>
          <p:cNvSpPr/>
          <p:nvPr/>
        </p:nvSpPr>
        <p:spPr>
          <a:xfrm>
            <a:off x="631080" y="6419160"/>
            <a:ext cx="10926000" cy="79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Element 8"/>
          <p:cNvSpPr/>
          <p:nvPr/>
        </p:nvSpPr>
        <p:spPr>
          <a:xfrm>
            <a:off x="631080" y="6537960"/>
            <a:ext cx="96001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Element 9"/>
          <p:cNvSpPr/>
          <p:nvPr/>
        </p:nvSpPr>
        <p:spPr>
          <a:xfrm>
            <a:off x="10972800" y="6537960"/>
            <a:ext cx="5475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Reference 403"/>
          <p:cNvSpPr/>
          <p:nvPr/>
        </p:nvSpPr>
        <p:spPr>
          <a:xfrm>
            <a:off x="713160" y="1508760"/>
            <a:ext cx="438480" cy="2739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</a:rPr>
              <a:t>[1]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Reference 404"/>
          <p:cNvSpPr/>
          <p:nvPr/>
        </p:nvSpPr>
        <p:spPr>
          <a:xfrm>
            <a:off x="1225440" y="1508760"/>
            <a:ext cx="10058040" cy="63972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H. Bastidas, A. Caicedo y C. Sarmiento, "Predicción de la tasa de cambio EUR/USD: comparación de modelos de deep 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learning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con diversos tipos y cantidades de datos de entrenamiento", proyecto aplicado de Maestría en Ciencia de Datos, Pontificia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Universidad Javeriana, Cali, Colombia, jun. 2025, fig. 43.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Reference 405"/>
          <p:cNvSpPr/>
          <p:nvPr/>
        </p:nvSpPr>
        <p:spPr>
          <a:xfrm>
            <a:off x="1225440" y="2148840"/>
            <a:ext cx="10058040" cy="17172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hlinkClick r:id="rId1"/>
              </a:rPr>
              <a:t>[En línea]. Disponible: https://github.com/harveybc/predictor/blob/80a1513a/docs/tesis_maestria_ds/tesis_maestria_ciencia_datos_2025.docx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Reference 406"/>
          <p:cNvSpPr/>
          <p:nvPr/>
        </p:nvSpPr>
        <p:spPr>
          <a:xfrm>
            <a:off x="713160" y="2366640"/>
            <a:ext cx="438480" cy="2739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</a:rPr>
              <a:t>[2]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Reference 407"/>
          <p:cNvSpPr/>
          <p:nvPr/>
        </p:nvSpPr>
        <p:spPr>
          <a:xfrm>
            <a:off x="1225440" y="2366640"/>
            <a:ext cx="10058040" cy="4341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H. Bastidas, "heuristic-strategy: fuentes del 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barrido de ruido de la presentación y 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resultados posteriores", código y datos, 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GitHub,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rev. f2d3922, sep. 2026. Consultado: 27-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sep-2026.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Reference 408"/>
          <p:cNvSpPr/>
          <p:nvPr/>
        </p:nvSpPr>
        <p:spPr>
          <a:xfrm>
            <a:off x="1225440" y="2801160"/>
            <a:ext cx="10058040" cy="17172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hlinkClick r:id="rId2"/>
              </a:rPr>
              <a:t>[En línea]. Disponible: https://github.com/harveybc/heuristic-strategy/tree/f2d3922/docs/presentation_noise_20260927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Reference 409"/>
          <p:cNvSpPr/>
          <p:nvPr/>
        </p:nvSpPr>
        <p:spPr>
          <a:xfrm>
            <a:off x="713160" y="3018960"/>
            <a:ext cx="438480" cy="2739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</a:rPr>
              <a:t>[3]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Reference 410"/>
          <p:cNvSpPr/>
          <p:nvPr/>
        </p:nvSpPr>
        <p:spPr>
          <a:xfrm>
            <a:off x="1225440" y="3018960"/>
            <a:ext cx="10058040" cy="4341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R. J. Hyndman y G. Athanasopoulos, Forecasting: Principles and Practice, 3.ª ed. Melbourne, Australia: OTexts, 2021, caps. 4 y 9.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Consultado: 27-sep-2026.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Reference 411"/>
          <p:cNvSpPr/>
          <p:nvPr/>
        </p:nvSpPr>
        <p:spPr>
          <a:xfrm>
            <a:off x="1225440" y="3453480"/>
            <a:ext cx="10058040" cy="17172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hlinkClick r:id="rId3"/>
              </a:rPr>
              <a:t>[En línea]. Disponible: https://otexts.com/fpp3/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Reference 412"/>
          <p:cNvSpPr/>
          <p:nvPr/>
        </p:nvSpPr>
        <p:spPr>
          <a:xfrm>
            <a:off x="713160" y="3671280"/>
            <a:ext cx="438480" cy="2739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</a:rPr>
              <a:t>[4]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Reference 413"/>
          <p:cNvSpPr/>
          <p:nvPr/>
        </p:nvSpPr>
        <p:spPr>
          <a:xfrm>
            <a:off x="1225440" y="3671280"/>
            <a:ext cx="10058040" cy="4341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Desa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rrolla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dores 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de 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stats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mode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ls, 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"Stati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onarit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y and 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detre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nding 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(ADF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/KPS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S)", 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docu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ment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ación 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de 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stats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mode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ls. 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Cons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ultad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o: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27-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sep-2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026.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Reference 414"/>
          <p:cNvSpPr/>
          <p:nvPr/>
        </p:nvSpPr>
        <p:spPr>
          <a:xfrm>
            <a:off x="1225440" y="4105800"/>
            <a:ext cx="10058040" cy="17172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hlinkClick r:id="rId4"/>
              </a:rPr>
              <a:t>[En línea]. Disponible: https://www.statsmodels.org/stable/examples/notebooks/generated/stationarity_detrending_adf_kpss.html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Reference 415"/>
          <p:cNvSpPr/>
          <p:nvPr/>
        </p:nvSpPr>
        <p:spPr>
          <a:xfrm>
            <a:off x="713160" y="4323600"/>
            <a:ext cx="438480" cy="2739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</a:rPr>
              <a:t>[5]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Reference 416"/>
          <p:cNvSpPr/>
          <p:nvPr/>
        </p:nvSpPr>
        <p:spPr>
          <a:xfrm>
            <a:off x="1225440" y="4323600"/>
            <a:ext cx="10058040" cy="4341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Comunidad SciPy, "Signal processing (scipy.signal)", documentación de SciPy: hilbert, correlate y coherence. Consultado: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27-sep-2026.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Reference 417"/>
          <p:cNvSpPr/>
          <p:nvPr/>
        </p:nvSpPr>
        <p:spPr>
          <a:xfrm>
            <a:off x="1225440" y="4757760"/>
            <a:ext cx="10058040" cy="17172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hlinkClick r:id="rId5"/>
              </a:rPr>
              <a:t>[En línea]. Disponible: https://docs.scipy.org/doc/scipy/reference/signal.html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Reference 418"/>
          <p:cNvSpPr/>
          <p:nvPr/>
        </p:nvSpPr>
        <p:spPr>
          <a:xfrm>
            <a:off x="713160" y="4975920"/>
            <a:ext cx="438480" cy="2739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</a:rPr>
              <a:t>[6]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Reference 419"/>
          <p:cNvSpPr/>
          <p:nvPr/>
        </p:nvSpPr>
        <p:spPr>
          <a:xfrm>
            <a:off x="1225440" y="4975920"/>
            <a:ext cx="10058040" cy="4341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C. H. Lubba, S. S. Sethi, P. Knaute, S. R. Schultz, B. D. Fulcher y N. S. Jones, "catch22: CAnonical Time-series CHaracteristics",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Data Min. Knowl. Discov., vol. 33, pp. 1821–1852, 2019.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Reference 420"/>
          <p:cNvSpPr/>
          <p:nvPr/>
        </p:nvSpPr>
        <p:spPr>
          <a:xfrm>
            <a:off x="1225440" y="5410080"/>
            <a:ext cx="10058040" cy="17172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hlinkClick r:id="rId6"/>
              </a:rPr>
              <a:t>doi: 10.1007/s10618-019-00647-x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Reference 421"/>
          <p:cNvSpPr/>
          <p:nvPr/>
        </p:nvSpPr>
        <p:spPr>
          <a:xfrm>
            <a:off x="713160" y="5628240"/>
            <a:ext cx="438480" cy="2739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</a:rPr>
              <a:t>[7]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Reference 422"/>
          <p:cNvSpPr/>
          <p:nvPr/>
        </p:nvSpPr>
        <p:spPr>
          <a:xfrm>
            <a:off x="1225440" y="5628240"/>
            <a:ext cx="10058040" cy="4341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P. Montero-Manso, G. Athanasopoulos, R. J. Hyndman y T. S. Talagala, "FFORMA: Feature-based forecast model averaging", Int.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J. Forecast., vol. 36, n.º 1, pp. 86–92, 2020.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Reference 423"/>
          <p:cNvSpPr/>
          <p:nvPr/>
        </p:nvSpPr>
        <p:spPr>
          <a:xfrm>
            <a:off x="1225440" y="6062400"/>
            <a:ext cx="10058040" cy="17172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hlinkClick r:id="rId7"/>
              </a:rPr>
              <a:t>doi: 10.1016/j.ijforecast.2019.02.011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Element 2"/>
          <p:cNvSpPr/>
          <p:nvPr/>
        </p:nvSpPr>
        <p:spPr>
          <a:xfrm>
            <a:off x="0" y="0"/>
            <a:ext cx="1219248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Element 3"/>
          <p:cNvSpPr/>
          <p:nvPr/>
        </p:nvSpPr>
        <p:spPr>
          <a:xfrm>
            <a:off x="658440" y="292680"/>
            <a:ext cx="10057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BIBLIOGRAFÍA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Element 4"/>
          <p:cNvSpPr/>
          <p:nvPr/>
        </p:nvSpPr>
        <p:spPr>
          <a:xfrm>
            <a:off x="631080" y="621720"/>
            <a:ext cx="109717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0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Referencias (2/2)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Element 5"/>
          <p:cNvSpPr/>
          <p:nvPr/>
        </p:nvSpPr>
        <p:spPr>
          <a:xfrm>
            <a:off x="631080" y="1307520"/>
            <a:ext cx="10926000" cy="97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Element 6"/>
          <p:cNvSpPr/>
          <p:nvPr/>
        </p:nvSpPr>
        <p:spPr>
          <a:xfrm>
            <a:off x="631080" y="1307520"/>
            <a:ext cx="785160" cy="3564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Element 7"/>
          <p:cNvSpPr/>
          <p:nvPr/>
        </p:nvSpPr>
        <p:spPr>
          <a:xfrm>
            <a:off x="631080" y="6419160"/>
            <a:ext cx="10926000" cy="79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Element 8"/>
          <p:cNvSpPr/>
          <p:nvPr/>
        </p:nvSpPr>
        <p:spPr>
          <a:xfrm>
            <a:off x="631080" y="6537960"/>
            <a:ext cx="96001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Element 9"/>
          <p:cNvSpPr/>
          <p:nvPr/>
        </p:nvSpPr>
        <p:spPr>
          <a:xfrm>
            <a:off x="10972800" y="6537960"/>
            <a:ext cx="5475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Reference 424"/>
          <p:cNvSpPr/>
          <p:nvPr/>
        </p:nvSpPr>
        <p:spPr>
          <a:xfrm>
            <a:off x="713160" y="1508760"/>
            <a:ext cx="438480" cy="2739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</a:rPr>
              <a:t>[8]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Reference 425"/>
          <p:cNvSpPr/>
          <p:nvPr/>
        </p:nvSpPr>
        <p:spPr>
          <a:xfrm>
            <a:off x="1225440" y="1508760"/>
            <a:ext cx="10058040" cy="4341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S. Bai, J. Z. Kolter y V. Koltun, "An 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Empirical Evaluation of Generic 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Convolutional and Recurrent Networks </a:t>
            </a: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for Sequence Modeling",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arXiv:1803.01271, 2018.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Reference 426"/>
          <p:cNvSpPr/>
          <p:nvPr/>
        </p:nvSpPr>
        <p:spPr>
          <a:xfrm>
            <a:off x="1225440" y="1943280"/>
            <a:ext cx="10058040" cy="17172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hlinkClick r:id="rId1"/>
              </a:rPr>
              <a:t>doi: 10.48550/arXiv.1803.01271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Reference 427"/>
          <p:cNvSpPr/>
          <p:nvPr/>
        </p:nvSpPr>
        <p:spPr>
          <a:xfrm>
            <a:off x="713160" y="2161080"/>
            <a:ext cx="438480" cy="2739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</a:rPr>
              <a:t>[9]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Reference 428"/>
          <p:cNvSpPr/>
          <p:nvPr/>
        </p:nvSpPr>
        <p:spPr>
          <a:xfrm>
            <a:off x="1225440" y="2161080"/>
            <a:ext cx="10058040" cy="4341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A. Vaswani et al., "Attention Is All You Need", en Advances in Neural Information Processing Systems, vol. 30, pp. 5998–6008,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2017.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Reference 429"/>
          <p:cNvSpPr/>
          <p:nvPr/>
        </p:nvSpPr>
        <p:spPr>
          <a:xfrm>
            <a:off x="1225440" y="2595240"/>
            <a:ext cx="10058040" cy="17172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hlinkClick r:id="rId2"/>
              </a:rPr>
              <a:t>[En línea]. Disponible: https://proceedings.neurips.cc/paper/7181-attention-is-all-you-need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Reference 430"/>
          <p:cNvSpPr/>
          <p:nvPr/>
        </p:nvSpPr>
        <p:spPr>
          <a:xfrm>
            <a:off x="713160" y="2813400"/>
            <a:ext cx="438480" cy="2739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</a:rPr>
              <a:t>[10]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Reference 431"/>
          <p:cNvSpPr/>
          <p:nvPr/>
        </p:nvSpPr>
        <p:spPr>
          <a:xfrm>
            <a:off x="1225440" y="2813400"/>
            <a:ext cx="10058040" cy="22824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Z. Li, Z. Rao, L. Pan, P. Wang y Z. Xu, "Ti-MAE: Self-Supervised Masked Time Series Autoencoders", arXiv:2301.08871, 2023.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Reference 432"/>
          <p:cNvSpPr/>
          <p:nvPr/>
        </p:nvSpPr>
        <p:spPr>
          <a:xfrm>
            <a:off x="1225440" y="3042000"/>
            <a:ext cx="10058040" cy="17172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hlinkClick r:id="rId3"/>
              </a:rPr>
              <a:t>doi: 10.48550/arXiv.2301.08871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Reference 433"/>
          <p:cNvSpPr/>
          <p:nvPr/>
        </p:nvSpPr>
        <p:spPr>
          <a:xfrm>
            <a:off x="713160" y="3259800"/>
            <a:ext cx="438480" cy="2739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</a:rPr>
              <a:t>[11]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Reference 434"/>
          <p:cNvSpPr/>
          <p:nvPr/>
        </p:nvSpPr>
        <p:spPr>
          <a:xfrm>
            <a:off x="1225440" y="3259800"/>
            <a:ext cx="10058040" cy="4341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Y. Nie, N. H. Nguyen, P. Sinthong y J. Kalagnanam, "A Time Series is Worth 64 Words: Long-term Forecasting with Transformers",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en Proc. ICLR, 2023.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Reference 435"/>
          <p:cNvSpPr/>
          <p:nvPr/>
        </p:nvSpPr>
        <p:spPr>
          <a:xfrm>
            <a:off x="1225440" y="3694320"/>
            <a:ext cx="10058040" cy="17172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hlinkClick r:id="rId4"/>
              </a:rPr>
              <a:t>Prepublicación: doi: 10.48550/arXiv.2211.14730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Reference 436"/>
          <p:cNvSpPr/>
          <p:nvPr/>
        </p:nvSpPr>
        <p:spPr>
          <a:xfrm>
            <a:off x="713160" y="3912120"/>
            <a:ext cx="438480" cy="2739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</a:rPr>
              <a:t>[12]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Reference 437"/>
          <p:cNvSpPr/>
          <p:nvPr/>
        </p:nvSpPr>
        <p:spPr>
          <a:xfrm>
            <a:off x="1225440" y="3912120"/>
            <a:ext cx="10058040" cy="22824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Y. Liu et al., "iTransformer: Inverted Transformers Are Effective for Time Series Forecasting", en Proc. ICLR, 2024.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Reference 438"/>
          <p:cNvSpPr/>
          <p:nvPr/>
        </p:nvSpPr>
        <p:spPr>
          <a:xfrm>
            <a:off x="1225440" y="4140720"/>
            <a:ext cx="10058040" cy="17172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hlinkClick r:id="rId5"/>
              </a:rPr>
              <a:t>Prepublicación: doi: 10.48550/arXiv.2310.06625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Reference 439"/>
          <p:cNvSpPr/>
          <p:nvPr/>
        </p:nvSpPr>
        <p:spPr>
          <a:xfrm>
            <a:off x="713160" y="4358520"/>
            <a:ext cx="438480" cy="2739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</a:rPr>
              <a:t>[13]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Reference 440"/>
          <p:cNvSpPr/>
          <p:nvPr/>
        </p:nvSpPr>
        <p:spPr>
          <a:xfrm>
            <a:off x="1225440" y="4358520"/>
            <a:ext cx="10058040" cy="4341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G. C. Cawley y N. L. C. Talbot, "On Over-fitting in Model Selection and Subsequent Selection Bias in Performance Evaluation", J.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</a:rPr>
              <a:t>Mach. Learn. Res., vol. 11, pp. 2079–2107, 2010.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Reference 441"/>
          <p:cNvSpPr/>
          <p:nvPr/>
        </p:nvSpPr>
        <p:spPr>
          <a:xfrm>
            <a:off x="1225440" y="4793040"/>
            <a:ext cx="10058040" cy="17172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hlinkClick r:id="rId6"/>
              </a:rPr>
              <a:t>[En línea]. Disponible: https://jmlr.org/papers/v11/cawley10a.html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2129</TotalTime>
  <Application>LibreOffice/26.2.5.2$Linux_X86_64 LibreOffice_project/6d2b0d33fb0f5da53a12f98bed3e9973e56ff1f0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2026-09-25T06:40:08Z</dcterms:created>
  <dc:creator>Harvey Demian Bastidas Caicedo</dc:creator>
  <dc:description/>
  <dc:language>en-US</dc:language>
  <cp:lastModifiedBy/>
  <dcterms:modified xsi:type="dcterms:W3CDTF">2026-09-28T00:52:03Z</dcterms:modified>
  <cp:revision>43</cp:revision>
  <dc:subject>Entrevista de admisión a un doctorado en inteligencia artificial</dc:subject>
  <dc:title>Diseño de representaciones temporales modulares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13</vt:r8>
  </property>
  <property fmtid="{D5CDD505-2E9C-101B-9397-08002B2CF9AE}" pid="3" name="PresentationFormat">
    <vt:lpwstr>On-screen Show (16:9)</vt:lpwstr>
  </property>
  <property fmtid="{D5CDD505-2E9C-101B-9397-08002B2CF9AE}" pid="4" name="Slides">
    <vt:r8>13</vt:r8>
  </property>
</Properties>
</file>